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1292" r:id="rId2"/>
    <p:sldId id="1422" r:id="rId3"/>
    <p:sldId id="1423" r:id="rId4"/>
    <p:sldId id="1409" r:id="rId5"/>
    <p:sldId id="1374" r:id="rId6"/>
    <p:sldId id="1376" r:id="rId7"/>
    <p:sldId id="1424" r:id="rId8"/>
    <p:sldId id="1379" r:id="rId9"/>
    <p:sldId id="1425" r:id="rId10"/>
    <p:sldId id="1385" r:id="rId11"/>
    <p:sldId id="1386" r:id="rId12"/>
    <p:sldId id="1387" r:id="rId13"/>
    <p:sldId id="1388" r:id="rId14"/>
    <p:sldId id="1426" r:id="rId15"/>
    <p:sldId id="1389" r:id="rId16"/>
    <p:sldId id="1390" r:id="rId17"/>
    <p:sldId id="1391" r:id="rId18"/>
    <p:sldId id="1392" r:id="rId19"/>
    <p:sldId id="1394" r:id="rId20"/>
    <p:sldId id="1395" r:id="rId21"/>
    <p:sldId id="1397" r:id="rId22"/>
    <p:sldId id="1427" r:id="rId23"/>
    <p:sldId id="1416" r:id="rId24"/>
    <p:sldId id="1400" r:id="rId25"/>
    <p:sldId id="1401" r:id="rId26"/>
    <p:sldId id="1417" r:id="rId27"/>
    <p:sldId id="1402" r:id="rId28"/>
    <p:sldId id="1403" r:id="rId29"/>
    <p:sldId id="1404" r:id="rId30"/>
    <p:sldId id="1419" r:id="rId31"/>
    <p:sldId id="1420" r:id="rId32"/>
    <p:sldId id="1405" r:id="rId33"/>
    <p:sldId id="1421" r:id="rId34"/>
  </p:sldIdLst>
  <p:sldSz cx="12192000" cy="6858000"/>
  <p:notesSz cx="7010400" cy="9296400"/>
  <p:defaultTextStyle>
    <a:defPPr>
      <a:defRPr lang="en-US"/>
    </a:defPPr>
    <a:lvl1pPr marL="0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eqing Liu" initials="XL" lastIdx="3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CDBC"/>
    <a:srgbClr val="008080"/>
    <a:srgbClr val="0033CC"/>
    <a:srgbClr val="0000CC"/>
    <a:srgbClr val="BD582C"/>
    <a:srgbClr val="E48312"/>
    <a:srgbClr val="7F7F7F"/>
    <a:srgbClr val="94A088"/>
    <a:srgbClr val="8656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6" autoAdjust="0"/>
    <p:restoredTop sz="93157" autoAdjust="0"/>
  </p:normalViewPr>
  <p:slideViewPr>
    <p:cSldViewPr snapToGrid="0">
      <p:cViewPr varScale="1">
        <p:scale>
          <a:sx n="82" d="100"/>
          <a:sy n="82" d="100"/>
        </p:scale>
        <p:origin x="378" y="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358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r">
              <a:defRPr sz="1200"/>
            </a:lvl1pPr>
          </a:lstStyle>
          <a:p>
            <a:fld id="{F87AF23C-6CAB-4A6A-B3BC-A88F610E057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7" tIns="46584" rIns="93167" bIns="4658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67" tIns="46584" rIns="93167" bIns="4658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r">
              <a:defRPr sz="1200"/>
            </a:lvl1pPr>
          </a:lstStyle>
          <a:p>
            <a:fld id="{A6F8110F-5CB8-4B7A-89C2-96B671E6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4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9BE47E6-A684-41E8-A8D2-AEB21EE26F6A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/>
          </a:p>
        </p:txBody>
      </p:sp>
    </p:spTree>
    <p:extLst>
      <p:ext uri="{BB962C8B-B14F-4D97-AF65-F5344CB8AC3E}">
        <p14:creationId xmlns:p14="http://schemas.microsoft.com/office/powerpoint/2010/main" val="3784570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E9AD48F-6A84-425B-91DC-38359CC00E39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5308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FDB77E0-0643-4731-BF9E-5D4CE6D72A36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981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AC34B97-841C-4970-9BDB-CC086931394A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4266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AC34B97-841C-4970-9BDB-CC086931394A}" type="slidenum">
              <a:rPr lang="en-US" altLang="en-US" sz="1200"/>
              <a:pPr eaLnBrk="1" hangingPunct="1"/>
              <a:t>8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8424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AC34B97-841C-4970-9BDB-CC086931394A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7966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7FC057C-AF1A-4F7A-A0A5-2AF4A7517F0A}" type="slidenum">
              <a:rPr lang="en-US" altLang="en-US" sz="1200"/>
              <a:pPr eaLnBrk="1" hangingPunct="1"/>
              <a:t>10</a:t>
            </a:fld>
            <a:endParaRPr lang="en-US" alt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8805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059C54B-666E-4D5A-A8B4-A3041C8566A3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0558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2FFD99C-DDEE-4B5A-8CD6-61A839F9CCBA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469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20E5CC8-4B4D-43D2-A076-4228DBE574B7}" type="slidenum">
              <a:rPr lang="en-US" altLang="en-US" sz="1200"/>
              <a:pPr eaLnBrk="1" hangingPunct="1"/>
              <a:t>13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7233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20E5CC8-4B4D-43D2-A076-4228DBE574B7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1955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302E7B5-A053-4E86-8336-78E4DA609877}" type="slidenum">
              <a:rPr lang="en-US" altLang="en-US" sz="1200"/>
              <a:pPr eaLnBrk="1" hangingPunct="1"/>
              <a:t>15</a:t>
            </a:fld>
            <a:endParaRPr lang="en-US" altLang="en-US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8799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14925EE-85E7-4873-88F9-121B04E0F4ED}" type="slidenum">
              <a:rPr lang="en-US" altLang="en-US" sz="1200"/>
              <a:pPr eaLnBrk="1" hangingPunct="1"/>
              <a:t>16</a:t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0833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B231649-8B12-4510-A1CB-E5890EF148EC}" type="slidenum">
              <a:rPr lang="en-US" altLang="en-US" sz="1200"/>
              <a:pPr eaLnBrk="1" hangingPunct="1"/>
              <a:t>17</a:t>
            </a:fld>
            <a:endParaRPr lang="en-US" altLang="en-US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8272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AF883FF-2F58-4107-BEA6-5C2298E1F95A}" type="slidenum">
              <a:rPr lang="en-US" altLang="en-US" sz="1200"/>
              <a:pPr eaLnBrk="1" hangingPunct="1"/>
              <a:t>18</a:t>
            </a:fld>
            <a:endParaRPr lang="en-US" altLang="en-US" sz="12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87596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94D377C-1700-4A4E-905A-4A8C020F95F9}" type="slidenum">
              <a:rPr lang="en-US" altLang="en-US" sz="1200"/>
              <a:pPr eaLnBrk="1" hangingPunct="1"/>
              <a:t>19</a:t>
            </a:fld>
            <a:endParaRPr lang="en-US" altLang="en-US" sz="120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73969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D037545-7FB3-4A1F-AEEC-458772C76451}" type="slidenum">
              <a:rPr lang="en-US" altLang="en-US" sz="1200"/>
              <a:pPr eaLnBrk="1" hangingPunct="1"/>
              <a:t>20</a:t>
            </a:fld>
            <a:endParaRPr lang="en-US" altLang="en-US" sz="120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Add a definition/description of “traditional data analysis”.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163819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9EADABB-4320-482A-B7AD-73BCD29C70DB}" type="slidenum">
              <a:rPr lang="en-US" altLang="en-US" sz="1200"/>
              <a:pPr eaLnBrk="1" hangingPunct="1"/>
              <a:t>21</a:t>
            </a:fld>
            <a:endParaRPr lang="en-US" altLang="en-US" sz="12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626969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9EADABB-4320-482A-B7AD-73BCD29C70DB}" type="slidenum">
              <a:rPr lang="en-US" altLang="en-US" sz="1200"/>
              <a:pPr eaLnBrk="1" hangingPunct="1"/>
              <a:t>22</a:t>
            </a:fld>
            <a:endParaRPr lang="en-US" altLang="en-US" sz="12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691268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9BE47E6-A684-41E8-A8D2-AEB21EE26F6A}" type="slidenum">
              <a:rPr lang="en-US" altLang="en-US" sz="1200">
                <a:solidFill>
                  <a:prstClr val="black"/>
                </a:solidFill>
              </a:rPr>
              <a:pPr eaLnBrk="1" hangingPunct="1"/>
              <a:t>23</a:t>
            </a:fld>
            <a:endParaRPr lang="en-US" altLang="en-US" sz="1200">
              <a:solidFill>
                <a:prstClr val="black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/>
          </a:p>
        </p:txBody>
      </p:sp>
    </p:spTree>
    <p:extLst>
      <p:ext uri="{BB962C8B-B14F-4D97-AF65-F5344CB8AC3E}">
        <p14:creationId xmlns:p14="http://schemas.microsoft.com/office/powerpoint/2010/main" val="35075832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B0185FD-F15E-4F37-B0B7-2D28DD8303C3}" type="slidenum">
              <a:rPr lang="en-US" altLang="en-US" sz="1200"/>
              <a:pPr eaLnBrk="1" hangingPunct="1"/>
              <a:t>24</a:t>
            </a:fld>
            <a:endParaRPr lang="en-US" altLang="en-US" sz="120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64354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3DE9560-D9ED-4D02-A94B-09AFAA82DE50}" type="slidenum">
              <a:rPr lang="en-US" altLang="en-US" sz="1200"/>
              <a:pPr eaLnBrk="1" hangingPunct="1"/>
              <a:t>25</a:t>
            </a:fld>
            <a:endParaRPr lang="en-US" altLang="en-US" sz="120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34086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9BE47E6-A684-41E8-A8D2-AEB21EE26F6A}" type="slidenum">
              <a:rPr lang="en-US" altLang="en-US" sz="1200">
                <a:solidFill>
                  <a:prstClr val="black"/>
                </a:solidFill>
              </a:rPr>
              <a:pPr eaLnBrk="1" hangingPunct="1"/>
              <a:t>26</a:t>
            </a:fld>
            <a:endParaRPr lang="en-US" altLang="en-US" sz="1200">
              <a:solidFill>
                <a:prstClr val="black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/>
          </a:p>
        </p:txBody>
      </p:sp>
    </p:spTree>
    <p:extLst>
      <p:ext uri="{BB962C8B-B14F-4D97-AF65-F5344CB8AC3E}">
        <p14:creationId xmlns:p14="http://schemas.microsoft.com/office/powerpoint/2010/main" val="23911303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4F1F140-384E-40F3-8460-2B57726E1CCB}" type="slidenum">
              <a:rPr lang="en-US" altLang="en-US" sz="1200"/>
              <a:pPr eaLnBrk="1" hangingPunct="1"/>
              <a:t>27</a:t>
            </a:fld>
            <a:endParaRPr lang="en-US" altLang="en-US" sz="120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47237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ED8FDFD-706D-4DFB-9955-195800B03303}" type="slidenum">
              <a:rPr lang="en-US" altLang="en-US" sz="1200"/>
              <a:pPr eaLnBrk="1" hangingPunct="1"/>
              <a:t>28</a:t>
            </a:fld>
            <a:endParaRPr lang="en-US" altLang="en-US" sz="120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01144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00E5CA3-E113-4AE5-B712-4FCD101C60C6}" type="slidenum">
              <a:rPr lang="en-US" altLang="en-US" sz="1200"/>
              <a:pPr eaLnBrk="1" hangingPunct="1"/>
              <a:t>29</a:t>
            </a:fld>
            <a:endParaRPr lang="en-US" altLang="en-US" sz="120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496304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9BE47E6-A684-41E8-A8D2-AEB21EE26F6A}" type="slidenum">
              <a:rPr lang="en-US" altLang="en-US" sz="1200">
                <a:solidFill>
                  <a:prstClr val="black"/>
                </a:solidFill>
              </a:rPr>
              <a:pPr eaLnBrk="1" hangingPunct="1"/>
              <a:t>30</a:t>
            </a:fld>
            <a:endParaRPr lang="en-US" altLang="en-US" sz="1200">
              <a:solidFill>
                <a:prstClr val="black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/>
          </a:p>
        </p:txBody>
      </p:sp>
    </p:spTree>
    <p:extLst>
      <p:ext uri="{BB962C8B-B14F-4D97-AF65-F5344CB8AC3E}">
        <p14:creationId xmlns:p14="http://schemas.microsoft.com/office/powerpoint/2010/main" val="29587508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2AE2494-E246-464F-AA19-05B4B0487F8D}" type="slidenum">
              <a:rPr lang="en-US" altLang="en-US" sz="1200"/>
              <a:pPr eaLnBrk="1" hangingPunct="1"/>
              <a:t>31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8612885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C07DEFD-27DB-4628-A1E7-F881F6A27B2D}" type="slidenum">
              <a:rPr lang="en-US" altLang="en-US" sz="1200"/>
              <a:pPr eaLnBrk="1" hangingPunct="1"/>
              <a:t>32</a:t>
            </a:fld>
            <a:endParaRPr lang="en-US" altLang="en-US" sz="120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4488" y="696913"/>
            <a:ext cx="6196012" cy="3486150"/>
          </a:xfrm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69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B453D57-8247-4C1B-975E-425AF76813D6}" type="slidenum">
              <a:rPr lang="en-US" altLang="en-US" sz="1200"/>
              <a:pPr eaLnBrk="1" hangingPunct="1"/>
              <a:t>33</a:t>
            </a:fld>
            <a:endParaRPr lang="en-US" altLang="en-US" sz="120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1487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500" y="2343945"/>
            <a:ext cx="11303000" cy="103425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600" spc="-5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95871" y="3529775"/>
            <a:ext cx="10058400" cy="782070"/>
          </a:xfrm>
        </p:spPr>
        <p:txBody>
          <a:bodyPr lIns="91436" rIns="91436">
            <a:normAutofit/>
          </a:bodyPr>
          <a:lstStyle>
            <a:lvl1pPr marL="0" indent="0" algn="ctr">
              <a:buNone/>
              <a:defRPr sz="2400" b="1" cap="none" spc="200" baseline="0">
                <a:solidFill>
                  <a:schemeClr val="tx1"/>
                </a:solidFill>
                <a:latin typeface="Berlin Sans FB Demi" panose="020E0802020502020306" pitchFamily="34" charset="0"/>
              </a:defRPr>
            </a:lvl1pPr>
            <a:lvl2pPr marL="457178" indent="0" algn="ctr">
              <a:buNone/>
              <a:defRPr sz="2400"/>
            </a:lvl2pPr>
            <a:lvl3pPr marL="914354" indent="0" algn="ctr">
              <a:buNone/>
              <a:defRPr sz="2400"/>
            </a:lvl3pPr>
            <a:lvl4pPr marL="1371532" indent="0" algn="ctr">
              <a:buNone/>
              <a:defRPr sz="2000"/>
            </a:lvl4pPr>
            <a:lvl5pPr marL="1828709" indent="0" algn="ctr">
              <a:buNone/>
              <a:defRPr sz="2000"/>
            </a:lvl5pPr>
            <a:lvl6pPr marL="2285886" indent="0" algn="ctr">
              <a:buNone/>
              <a:defRPr sz="2000"/>
            </a:lvl6pPr>
            <a:lvl7pPr marL="2743062" indent="0" algn="ctr">
              <a:buNone/>
              <a:defRPr sz="2000"/>
            </a:lvl7pPr>
            <a:lvl8pPr marL="3200240" indent="0" algn="ctr">
              <a:buNone/>
              <a:defRPr sz="2000"/>
            </a:lvl8pPr>
            <a:lvl9pPr marL="3657418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0"/>
            <a:ext cx="12244106" cy="2281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4463419"/>
            <a:ext cx="12192000" cy="23961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85" y="221676"/>
            <a:ext cx="11369963" cy="738909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83" y="1219200"/>
            <a:ext cx="11406908" cy="5384800"/>
          </a:xfrm>
        </p:spPr>
        <p:txBody>
          <a:bodyPr/>
          <a:lstStyle>
            <a:lvl1pPr marL="461951" indent="-461951">
              <a:defRPr sz="2800"/>
            </a:lvl1pPr>
            <a:lvl2pPr marL="738170" indent="-538149">
              <a:defRPr sz="2800"/>
            </a:lvl2pPr>
            <a:lvl3pPr marL="858817" indent="-474651">
              <a:defRPr sz="2800"/>
            </a:lvl3pPr>
            <a:lvl4pPr marL="1144559" indent="-522275">
              <a:defRPr sz="2800"/>
            </a:lvl4pPr>
            <a:lvl5pPr marL="1376328" indent="-507987"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83" y="1219203"/>
            <a:ext cx="11406908" cy="5209309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91131" y="1100537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0" y="6565686"/>
            <a:ext cx="1066800" cy="273844"/>
          </a:xfrm>
          <a:prstGeom prst="rect">
            <a:avLst/>
          </a:prstGeom>
        </p:spPr>
        <p:txBody>
          <a:bodyPr lIns="91436" tIns="45718" rIns="91436" bIns="45718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4F2234-F0AC-4578-99CD-21C2B01FA7D4}" type="slidenum">
              <a:rPr lang="en-US" sz="1600" b="0" smtClean="0"/>
              <a:pPr/>
              <a:t>‹#›</a:t>
            </a:fld>
            <a:endParaRPr lang="en-US" sz="16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</p:sldLayoutIdLst>
  <p:hf hdr="0" ftr="0" dt="0"/>
  <p:txStyles>
    <p:titleStyle>
      <a:lvl1pPr algn="ctr" defTabSz="914354" rtl="0" eaLnBrk="1" latinLnBrk="0" hangingPunct="1">
        <a:lnSpc>
          <a:spcPct val="85000"/>
        </a:lnSpc>
        <a:spcBef>
          <a:spcPct val="0"/>
        </a:spcBef>
        <a:buNone/>
        <a:defRPr sz="4400" kern="1200" spc="-51" baseline="0"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Berlin Sans FB Demi" panose="020E0802020502020306" pitchFamily="34" charset="0"/>
          <a:ea typeface="+mj-ea"/>
          <a:cs typeface="+mj-cs"/>
        </a:defRPr>
      </a:lvl1pPr>
    </p:titleStyle>
    <p:bodyStyle>
      <a:lvl1pPr marL="341305" indent="-341305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C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3074" indent="-37305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BD582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4179" indent="-30002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808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12791" indent="-290506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FF000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2971" indent="-274632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7030A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994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3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25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1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m/Data-Mining-Analysis-Fundamental-Algorithms/dp/0521766338/ref=sr_1_1?s=books&amp;ie=UTF8&amp;qid=1471664060&amp;sr=1-1&amp;keywords=Zaki+data+mining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321858"/>
            <a:ext cx="12192000" cy="995083"/>
          </a:xfrm>
        </p:spPr>
        <p:txBody>
          <a:bodyPr>
            <a:noAutofit/>
          </a:bodyPr>
          <a:lstStyle/>
          <a:p>
            <a:pPr algn="ctr" defTabSz="1219110"/>
            <a:r>
              <a:rPr lang="en-US" dirty="0"/>
              <a:t>Intro. to Data Mining</a:t>
            </a:r>
            <a:endParaRPr lang="en-US" b="1" spc="0" dirty="0">
              <a:solidFill>
                <a:prstClr val="black"/>
              </a:solidFill>
              <a:effectLst>
                <a:outerShdw blurRad="50800" dist="38100" dir="2700000" algn="tl" rotWithShape="0">
                  <a:scrgbClr r="0" g="0" b="0">
                    <a:alpha val="43000"/>
                  </a:scrgbClr>
                </a:outerShdw>
              </a:effectLst>
              <a:latin typeface="Abadi MT Condensed Extra Bold"/>
              <a:cs typeface="Abadi MT Condensed Extra Bold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397625"/>
            <a:ext cx="12192000" cy="1039906"/>
          </a:xfrm>
        </p:spPr>
        <p:txBody>
          <a:bodyPr>
            <a:noAutofit/>
          </a:bodyPr>
          <a:lstStyle/>
          <a:p>
            <a:r>
              <a:rPr lang="en-US" sz="3600" dirty="0"/>
              <a:t>Chapter 1. 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" y="6492879"/>
            <a:ext cx="1312025" cy="365125"/>
          </a:xfrm>
          <a:prstGeom prst="rect">
            <a:avLst/>
          </a:prstGeom>
        </p:spPr>
        <p:txBody>
          <a:bodyPr/>
          <a:lstStyle/>
          <a:p>
            <a:fld id="{4FAB73BC-B049-4115-A692-8D63A059BFB8}" type="slidenum">
              <a:rPr lang="en-US" smtClean="0">
                <a:solidFill>
                  <a:srgbClr val="000000"/>
                </a:solidFill>
              </a:rPr>
              <a:pPr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258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C6CCE7-3C44-4B6A-9CCE-BD5FED01C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教师简介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B71B616-95C9-4550-A52E-45A9D787A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3717032"/>
            <a:ext cx="8686800" cy="256364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b="1" dirty="0"/>
              <a:t>研究方向：</a:t>
            </a:r>
            <a:endParaRPr lang="en-US" altLang="zh-CN" b="1" dirty="0"/>
          </a:p>
          <a:p>
            <a:r>
              <a:rPr lang="zh-CN" altLang="en-US" dirty="0"/>
              <a:t>数据库与知识工程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近期兴趣点：</a:t>
            </a:r>
            <a:endParaRPr lang="en-US" altLang="zh-CN" b="1" dirty="0"/>
          </a:p>
          <a:p>
            <a:r>
              <a:rPr lang="zh-CN" altLang="en-US" dirty="0"/>
              <a:t>自动化知识库搭建，强化学习</a:t>
            </a:r>
            <a:r>
              <a:rPr lang="en-US" altLang="zh-CN" dirty="0"/>
              <a:t>/</a:t>
            </a:r>
            <a:r>
              <a:rPr lang="zh-CN" altLang="en-US" dirty="0"/>
              <a:t>深度学习模型，信息抽取，图数据挖掘</a:t>
            </a:r>
            <a:r>
              <a:rPr lang="en-US" altLang="zh-CN" dirty="0"/>
              <a:t>, </a:t>
            </a:r>
            <a:r>
              <a:rPr lang="zh-CN" altLang="en-US" dirty="0"/>
              <a:t>空间数据挖掘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4B239A4-E788-48A2-9061-FC99C8BC2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1556792"/>
            <a:ext cx="1444720" cy="2028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3E4EC17-0782-4225-8125-F32A668670B0}"/>
              </a:ext>
            </a:extLst>
          </p:cNvPr>
          <p:cNvSpPr/>
          <p:nvPr/>
        </p:nvSpPr>
        <p:spPr>
          <a:xfrm>
            <a:off x="3832966" y="1970749"/>
            <a:ext cx="50713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王悦，博士</a:t>
            </a:r>
            <a:endParaRPr lang="en-US" altLang="zh-CN" sz="24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中央财经大学信息学院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计算机科学与技术系，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副教授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5686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60456B-E286-49E0-8B47-D3DC9F355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参考教材作者韩家炜老师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DF73166-2EC3-4CBE-B7A1-E2CCA03A1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85" y="960585"/>
            <a:ext cx="3704478" cy="326813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C43139E-7DFB-4AE5-929B-76AE10CF07D1}"/>
              </a:ext>
            </a:extLst>
          </p:cNvPr>
          <p:cNvSpPr/>
          <p:nvPr/>
        </p:nvSpPr>
        <p:spPr>
          <a:xfrm>
            <a:off x="6844954" y="1864511"/>
            <a:ext cx="46842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本学期：</a:t>
            </a:r>
            <a:r>
              <a:rPr lang="en-US" altLang="zh-CN" sz="2400" b="1" dirty="0"/>
              <a:t>D</a:t>
            </a:r>
            <a:r>
              <a:rPr lang="zh-CN" altLang="en-US" sz="2400" b="1" dirty="0"/>
              <a:t>ata </a:t>
            </a:r>
            <a:r>
              <a:rPr lang="en-US" altLang="zh-CN" sz="2400" b="1" dirty="0"/>
              <a:t>M</a:t>
            </a:r>
            <a:r>
              <a:rPr lang="zh-CN" altLang="en-US" sz="2400" b="1" dirty="0"/>
              <a:t>ining: 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oncepts and </a:t>
            </a:r>
            <a:r>
              <a:rPr lang="en-US" altLang="zh-CN" sz="2400" b="1" dirty="0"/>
              <a:t>T</a:t>
            </a:r>
            <a:r>
              <a:rPr lang="zh-CN" altLang="en-US" sz="2400" b="1" dirty="0"/>
              <a:t>echniques </a:t>
            </a:r>
            <a:r>
              <a:rPr lang="en-US" altLang="zh-CN" sz="2400" b="1" dirty="0"/>
              <a:t>4</a:t>
            </a:r>
            <a:r>
              <a:rPr lang="en-US" altLang="zh-CN" sz="2400" b="1" baseline="30000" dirty="0"/>
              <a:t>th</a:t>
            </a:r>
            <a:r>
              <a:rPr lang="en-US" altLang="zh-CN" sz="2400" b="1" dirty="0"/>
              <a:t> edition</a:t>
            </a:r>
          </a:p>
          <a:p>
            <a:r>
              <a:rPr lang="en-US" altLang="zh-CN" sz="2400" b="1" dirty="0"/>
              <a:t>(22</a:t>
            </a:r>
            <a:r>
              <a:rPr lang="zh-CN" altLang="en-US" sz="2400" b="1" dirty="0"/>
              <a:t>年</a:t>
            </a:r>
            <a:r>
              <a:rPr lang="en-US" altLang="zh-CN" sz="2400" b="1" dirty="0"/>
              <a:t>7</a:t>
            </a:r>
            <a:r>
              <a:rPr lang="zh-CN" altLang="en-US" sz="2400" b="1" dirty="0"/>
              <a:t>月底发行</a:t>
            </a:r>
            <a:r>
              <a:rPr lang="en-US" altLang="zh-CN" sz="2400" b="1" dirty="0"/>
              <a:t>)</a:t>
            </a:r>
            <a:endParaRPr lang="zh-CN" altLang="en-US" sz="24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4AB6570-4E00-46DD-82CD-2420F339B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978" y="3168953"/>
            <a:ext cx="2114564" cy="2614990"/>
          </a:xfrm>
          <a:prstGeom prst="rect">
            <a:avLst/>
          </a:prstGeom>
        </p:spPr>
      </p:pic>
      <p:sp>
        <p:nvSpPr>
          <p:cNvPr id="3" name="AutoShape 2" descr="https://photos.fife.usercontent.google.com/pw/AIL4fc_zoDwfqNt-IH87rdervSTPzh3az5iQsFq7JeauPA4groNIMGQ0bCvG=w2383-h1788-s-no?authuser=0">
            <a:extLst>
              <a:ext uri="{FF2B5EF4-FFF2-40B4-BE49-F238E27FC236}">
                <a16:creationId xmlns:a16="http://schemas.microsoft.com/office/drawing/2014/main" id="{10B266CF-1120-4740-8398-118E8CB660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4111D6C-28AB-4352-AAA9-F91D25CE8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117" y="3621360"/>
            <a:ext cx="4157409" cy="311805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ACCCDF7-DDC7-4DD1-A100-34714352353F}"/>
              </a:ext>
            </a:extLst>
          </p:cNvPr>
          <p:cNvSpPr/>
          <p:nvPr/>
        </p:nvSpPr>
        <p:spPr>
          <a:xfrm>
            <a:off x="4254790" y="1315916"/>
            <a:ext cx="1282723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ICDM 2019</a:t>
            </a:r>
            <a:endParaRPr lang="en-US" altLang="zh-CN" dirty="0"/>
          </a:p>
          <a:p>
            <a:r>
              <a:rPr lang="en-US" altLang="zh-CN" dirty="0"/>
              <a:t>Beijing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56C2E5-4723-48D0-93E5-24BFB9C8EE2C}"/>
              </a:ext>
            </a:extLst>
          </p:cNvPr>
          <p:cNvSpPr/>
          <p:nvPr/>
        </p:nvSpPr>
        <p:spPr>
          <a:xfrm>
            <a:off x="1070303" y="5597630"/>
            <a:ext cx="2138855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APWEB</a:t>
            </a:r>
            <a:r>
              <a:rPr lang="zh-CN" altLang="en-US" dirty="0"/>
              <a:t> </a:t>
            </a:r>
            <a:r>
              <a:rPr lang="en-US" altLang="zh-CN" dirty="0"/>
              <a:t>WAIM</a:t>
            </a:r>
            <a:r>
              <a:rPr lang="zh-CN" altLang="en-US" dirty="0"/>
              <a:t> 2014</a:t>
            </a:r>
            <a:endParaRPr lang="en-US" altLang="zh-CN" dirty="0"/>
          </a:p>
          <a:p>
            <a:r>
              <a:rPr lang="en-US" altLang="zh-CN" dirty="0"/>
              <a:t>Macau</a:t>
            </a:r>
            <a:endParaRPr lang="zh-CN" altLang="en-US" dirty="0"/>
          </a:p>
        </p:txBody>
      </p:sp>
      <p:pic>
        <p:nvPicPr>
          <p:cNvPr id="1028" name="Picture 4" descr="https://img.36krcdn.com/hsossms/20230401/v2_90565b27d1944b56a40378164a956203_oswg712027oswg1024oswg683_img_000">
            <a:extLst>
              <a:ext uri="{FF2B5EF4-FFF2-40B4-BE49-F238E27FC236}">
                <a16:creationId xmlns:a16="http://schemas.microsoft.com/office/drawing/2014/main" id="{118C66DB-B479-404F-882C-DC1E23362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9915" y="3168953"/>
            <a:ext cx="1799616" cy="120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169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28600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Chapter 1.  Introduction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BCFABA-5640-4878-A95D-9F4DC8722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What Is Data Mining?</a:t>
            </a:r>
          </a:p>
          <a:p>
            <a:r>
              <a:rPr lang="en-US" altLang="zh-CN" b="1" dirty="0"/>
              <a:t>Data Mining: An Essential Step in Knowledge Discovery</a:t>
            </a:r>
          </a:p>
          <a:p>
            <a:r>
              <a:rPr lang="en-US" altLang="zh-CN" b="1" dirty="0"/>
              <a:t>Diversity of Data Types for Data Mining</a:t>
            </a:r>
          </a:p>
          <a:p>
            <a:r>
              <a:rPr lang="en-US" altLang="zh-CN" b="1" dirty="0"/>
              <a:t>Mining Various Kinds of Knowledge</a:t>
            </a:r>
          </a:p>
          <a:p>
            <a:r>
              <a:rPr lang="en-US" altLang="zh-CN" b="1" dirty="0"/>
              <a:t>Data Mining: Confluence of Multiple Disciplines</a:t>
            </a:r>
          </a:p>
          <a:p>
            <a:r>
              <a:rPr lang="en-US" altLang="zh-CN" b="1" dirty="0"/>
              <a:t>Data Mining and Applications</a:t>
            </a:r>
          </a:p>
          <a:p>
            <a:r>
              <a:rPr lang="en-US" altLang="zh-CN" b="1" dirty="0"/>
              <a:t>Data Mining and Society</a:t>
            </a:r>
          </a:p>
          <a:p>
            <a:r>
              <a:rPr lang="en-US" altLang="zh-CN" b="1" dirty="0"/>
              <a:t>Major Issues in Data Mining</a:t>
            </a:r>
          </a:p>
          <a:p>
            <a:r>
              <a:rPr lang="en-US" altLang="zh-CN" b="1" dirty="0"/>
              <a:t>A Brief History of Data Mining and Data Mining Society</a:t>
            </a:r>
          </a:p>
          <a:p>
            <a:r>
              <a:rPr lang="en-US" altLang="zh-CN" b="1" dirty="0"/>
              <a:t>Summary</a:t>
            </a:r>
            <a:endParaRPr lang="zh-CN" altLang="en-US" b="1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7F0D3033-4750-4DAD-B6CB-9127436892FE}"/>
              </a:ext>
            </a:extLst>
          </p:cNvPr>
          <p:cNvSpPr>
            <a:spLocks noChangeArrowheads="1"/>
          </p:cNvSpPr>
          <p:nvPr/>
        </p:nvSpPr>
        <p:spPr bwMode="auto">
          <a:xfrm rot="9724325">
            <a:off x="4424784" y="1131642"/>
            <a:ext cx="480709" cy="376632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404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0039"/>
            <a:ext cx="12192000" cy="619125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4000" b="1" dirty="0"/>
              <a:t>What Is Data Mining?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599" y="1241969"/>
            <a:ext cx="11132746" cy="521297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600"/>
              </a:spcAft>
            </a:pPr>
            <a:r>
              <a:rPr lang="en-US" sz="2400" b="0" i="0" u="none" strike="noStrike" baseline="0" dirty="0"/>
              <a:t>We live in a world where vast amounts of data are generated constantly and rapidly</a:t>
            </a:r>
          </a:p>
          <a:p>
            <a:pPr algn="l"/>
            <a:r>
              <a:rPr lang="en-US" sz="2400" b="1" u="none" strike="noStrike" baseline="0" dirty="0"/>
              <a:t>Data mining </a:t>
            </a:r>
            <a:r>
              <a:rPr lang="en-US" sz="2400" b="0" u="none" strike="noStrike" baseline="0" dirty="0"/>
              <a:t>is the process of discovering interesting patterns, models and other kinds of knowledge in large data sets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“Data mining”: a misnomer? It should be </a:t>
            </a:r>
            <a:r>
              <a:rPr lang="en-US" sz="2400" b="0" i="0" u="none" strike="noStrike" baseline="0" dirty="0"/>
              <a:t>“knowledge mining from data”</a:t>
            </a:r>
          </a:p>
          <a:p>
            <a:pPr lvl="1"/>
            <a:r>
              <a:rPr lang="en-US" altLang="en-US" sz="2400" dirty="0"/>
              <a:t>Other terms: </a:t>
            </a:r>
            <a:r>
              <a:rPr lang="en-US" sz="2400" b="0" i="1" u="none" strike="noStrike" baseline="0" dirty="0"/>
              <a:t>Knowledge</a:t>
            </a:r>
            <a:r>
              <a:rPr lang="en-US" sz="2400" i="1" dirty="0"/>
              <a:t> </a:t>
            </a:r>
            <a:r>
              <a:rPr lang="en-US" sz="2400" b="0" i="1" u="none" strike="noStrike" baseline="0" dirty="0"/>
              <a:t>mining from data</a:t>
            </a:r>
            <a:r>
              <a:rPr lang="en-US" sz="2400" b="0" i="0" u="none" strike="noStrike" baseline="0" dirty="0"/>
              <a:t>, </a:t>
            </a:r>
            <a:r>
              <a:rPr lang="en-US" sz="2400" b="0" i="1" u="none" strike="noStrike" baseline="0" dirty="0"/>
              <a:t>KDD </a:t>
            </a:r>
            <a:r>
              <a:rPr lang="en-US" sz="2400" b="0" u="none" strike="noStrike" baseline="0" dirty="0"/>
              <a:t>(</a:t>
            </a:r>
            <a:r>
              <a:rPr lang="en-US" sz="2400" b="0" i="1" u="none" strike="noStrike" baseline="0" dirty="0"/>
              <a:t>Knowledge Discovery from Data</a:t>
            </a:r>
            <a:r>
              <a:rPr lang="en-US" sz="2400" b="0" u="none" strike="noStrike" baseline="0" dirty="0"/>
              <a:t>)</a:t>
            </a:r>
            <a:r>
              <a:rPr lang="en-US" sz="2400" b="0" i="0" u="none" strike="noStrike" baseline="0" dirty="0"/>
              <a:t>, </a:t>
            </a:r>
            <a:r>
              <a:rPr lang="en-US" sz="2400" b="0" i="1" u="none" strike="noStrike" baseline="0" dirty="0"/>
              <a:t>pattern discovery</a:t>
            </a:r>
            <a:r>
              <a:rPr lang="en-US" sz="2400" b="0" i="0" u="none" strike="noStrike" baseline="0" dirty="0"/>
              <a:t>, </a:t>
            </a:r>
            <a:r>
              <a:rPr lang="en-US" sz="2400" b="0" i="1" u="none" strike="noStrike" baseline="0" dirty="0"/>
              <a:t>knowledge extraction</a:t>
            </a:r>
            <a:r>
              <a:rPr lang="en-US" sz="2400" b="0" i="0" u="none" strike="noStrike" baseline="0" dirty="0"/>
              <a:t>, </a:t>
            </a:r>
            <a:r>
              <a:rPr lang="en-US" sz="2400" b="0" i="1" u="none" strike="noStrike" baseline="0" dirty="0"/>
              <a:t>data analytics</a:t>
            </a:r>
            <a:r>
              <a:rPr lang="en-US" sz="2400" b="0" i="0" u="none" strike="noStrike" baseline="0" dirty="0"/>
              <a:t>, </a:t>
            </a:r>
            <a:r>
              <a:rPr lang="en-US" sz="2400" b="0" i="1" u="none" strike="noStrike" baseline="0" dirty="0"/>
              <a:t>information harvesting</a:t>
            </a:r>
            <a:r>
              <a:rPr lang="en-US" sz="2400" b="0" i="0" u="none" strike="noStrike" baseline="0" dirty="0"/>
              <a:t> </a:t>
            </a:r>
            <a:endParaRPr lang="en-US" altLang="en-US" sz="2400" dirty="0"/>
          </a:p>
          <a:p>
            <a:pPr>
              <a:spcAft>
                <a:spcPts val="600"/>
              </a:spcAft>
            </a:pPr>
            <a:r>
              <a:rPr lang="en-US" sz="2400" b="0" i="0" u="none" strike="noStrike" baseline="0" dirty="0"/>
              <a:t>Data mining is a young, dynamic, and promising field</a:t>
            </a:r>
            <a:endParaRPr lang="en-GB" altLang="en-US" sz="2400" dirty="0"/>
          </a:p>
          <a:p>
            <a:pPr algn="l"/>
            <a:r>
              <a:rPr lang="en-US" altLang="en-US" sz="2400" dirty="0"/>
              <a:t>Example: </a:t>
            </a:r>
            <a:r>
              <a:rPr lang="en-US" sz="2400" i="0" u="none" strike="noStrike" baseline="0" dirty="0">
                <a:solidFill>
                  <a:srgbClr val="000000"/>
                </a:solidFill>
              </a:rPr>
              <a:t>Data mining turns a large collection of data into knowledge</a:t>
            </a:r>
          </a:p>
          <a:p>
            <a:pPr lvl="1"/>
            <a:r>
              <a:rPr lang="en-US" sz="2400" b="0" i="0" u="none" strike="noStrike" baseline="0" dirty="0">
                <a:solidFill>
                  <a:srgbClr val="000000"/>
                </a:solidFill>
              </a:rPr>
              <a:t>Google’s </a:t>
            </a:r>
            <a:r>
              <a:rPr lang="en-US" sz="2400" b="0" i="1" u="none" strike="noStrike" baseline="0" dirty="0">
                <a:solidFill>
                  <a:srgbClr val="000000"/>
                </a:solidFill>
              </a:rPr>
              <a:t>Flu Trends 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found a close relationship between the number of people who search for flu-related info. and the number of people who have flu symptoms</a:t>
            </a:r>
          </a:p>
          <a:p>
            <a:pPr lvl="2"/>
            <a:r>
              <a:rPr lang="en-US" sz="2400" b="0" u="none" strike="noStrike" baseline="0" dirty="0">
                <a:solidFill>
                  <a:srgbClr val="000000"/>
                </a:solidFill>
              </a:rPr>
              <a:t>It</a:t>
            </a:r>
            <a:r>
              <a:rPr lang="en-US" sz="2400" b="0" i="1" u="none" strike="noStrike" baseline="0" dirty="0">
                <a:solidFill>
                  <a:srgbClr val="000000"/>
                </a:solidFill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can estimate flu activity up to two weeks faster than traditional systems 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81736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AC9553-2A0F-AA2E-9E9A-CA15509D6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60" y="1206690"/>
            <a:ext cx="8981039" cy="5330051"/>
          </a:xfrm>
          <a:prstGeom prst="rect">
            <a:avLst/>
          </a:prstGeom>
        </p:spPr>
      </p:pic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1676"/>
            <a:ext cx="12191999" cy="738909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b="1" dirty="0"/>
              <a:t>Data Mining: An Essential Step in Knowledge Discovery</a:t>
            </a:r>
            <a:endParaRPr lang="en-US" altLang="en-US" sz="3600" dirty="0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28458" y="2009747"/>
            <a:ext cx="4476438" cy="462657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Knowledge Discovery Process</a:t>
            </a:r>
          </a:p>
          <a:p>
            <a:pPr lvl="1" eaLnBrk="1" hangingPunct="1">
              <a:lnSpc>
                <a:spcPct val="100000"/>
              </a:lnSpc>
              <a:spcAft>
                <a:spcPts val="600"/>
              </a:spcAft>
            </a:pPr>
            <a:r>
              <a:rPr lang="en-US" altLang="en-US" sz="2400" dirty="0"/>
              <a:t>Data preparation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Data cleaning 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Data integration  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Data transformation 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Data selection  </a:t>
            </a:r>
          </a:p>
          <a:p>
            <a:pPr lvl="1" eaLnBrk="1" hangingPunct="1">
              <a:lnSpc>
                <a:spcPct val="100000"/>
              </a:lnSpc>
              <a:spcAft>
                <a:spcPts val="600"/>
              </a:spcAft>
            </a:pPr>
            <a:r>
              <a:rPr lang="en-US" altLang="en-US" sz="2400" dirty="0"/>
              <a:t>Data mining  </a:t>
            </a:r>
          </a:p>
          <a:p>
            <a:pPr lvl="1" eaLnBrk="1" hangingPunct="1">
              <a:lnSpc>
                <a:spcPct val="100000"/>
              </a:lnSpc>
              <a:spcAft>
                <a:spcPts val="600"/>
              </a:spcAft>
            </a:pPr>
            <a:r>
              <a:rPr lang="en-US" altLang="en-US" sz="2400" dirty="0"/>
              <a:t>Pattern/model evaluation  </a:t>
            </a:r>
          </a:p>
          <a:p>
            <a:pPr lvl="1" eaLnBrk="1" hangingPunct="1">
              <a:lnSpc>
                <a:spcPct val="100000"/>
              </a:lnSpc>
              <a:spcAft>
                <a:spcPts val="600"/>
              </a:spcAft>
            </a:pPr>
            <a:r>
              <a:rPr lang="en-US" altLang="en-US" sz="2400" dirty="0"/>
              <a:t>Knowledge presentation </a:t>
            </a:r>
          </a:p>
        </p:txBody>
      </p:sp>
    </p:spTree>
    <p:extLst>
      <p:ext uri="{BB962C8B-B14F-4D97-AF65-F5344CB8AC3E}">
        <p14:creationId xmlns:p14="http://schemas.microsoft.com/office/powerpoint/2010/main" val="1747126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4000" b="1" dirty="0"/>
              <a:t>Diversity of Data Types for Data Mining (I)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3885" y="1118104"/>
            <a:ext cx="11087390" cy="5703683"/>
          </a:xfrm>
        </p:spPr>
        <p:txBody>
          <a:bodyPr/>
          <a:lstStyle/>
          <a:p>
            <a:pPr>
              <a:spcAft>
                <a:spcPts val="300"/>
              </a:spcAft>
            </a:pPr>
            <a:r>
              <a:rPr lang="en-US" sz="2200" b="1" i="0" u="none" strike="noStrike" baseline="0" dirty="0"/>
              <a:t>Structured vs. unstructured data</a:t>
            </a:r>
          </a:p>
          <a:p>
            <a:pPr lvl="1"/>
            <a:r>
              <a:rPr lang="en-US" sz="2200" i="1" u="none" strike="noStrike" baseline="0" dirty="0"/>
              <a:t>Structured</a:t>
            </a:r>
            <a:r>
              <a:rPr lang="en-US" sz="2200" i="0" u="none" strike="noStrike" baseline="0" dirty="0"/>
              <a:t>: </a:t>
            </a:r>
            <a:r>
              <a:rPr lang="en-US" sz="2200" b="0" i="0" u="none" strike="noStrike" baseline="0" dirty="0"/>
              <a:t>uniform, record- or table-like structures, defined by data dictionaries, with a fixed set of attributes, each with a fixed set of value ranges and semantic meaning</a:t>
            </a:r>
          </a:p>
          <a:p>
            <a:pPr lvl="2"/>
            <a:r>
              <a:rPr lang="en-US" sz="2200" b="0" i="0" u="none" strike="noStrike" baseline="0" dirty="0"/>
              <a:t>Ex. Data stored in </a:t>
            </a:r>
            <a:r>
              <a:rPr lang="en-US" sz="2200" b="0" i="1" u="none" strike="noStrike" baseline="0" dirty="0"/>
              <a:t>relational databases</a:t>
            </a:r>
            <a:r>
              <a:rPr lang="en-US" sz="2200" b="0" i="0" u="none" strike="noStrike" baseline="0" dirty="0"/>
              <a:t>, </a:t>
            </a:r>
            <a:r>
              <a:rPr lang="en-US" sz="2200" b="0" i="1" u="none" strike="noStrike" baseline="0" dirty="0"/>
              <a:t>data cubes</a:t>
            </a:r>
            <a:r>
              <a:rPr lang="en-US" sz="2200" b="0" i="0" u="none" strike="noStrike" baseline="0" dirty="0"/>
              <a:t>, </a:t>
            </a:r>
            <a:r>
              <a:rPr lang="en-US" sz="2200" b="0" i="1" u="none" strike="noStrike" baseline="0" dirty="0"/>
              <a:t>data matrices</a:t>
            </a:r>
            <a:r>
              <a:rPr lang="en-US" sz="2200" b="0" i="0" u="none" strike="noStrike" baseline="0" dirty="0"/>
              <a:t>, and many </a:t>
            </a:r>
            <a:r>
              <a:rPr lang="en-US" sz="2200" b="0" i="1" u="none" strike="noStrike" baseline="0" dirty="0"/>
              <a:t>data warehouses</a:t>
            </a:r>
            <a:r>
              <a:rPr lang="en-US" sz="2200" b="0" i="0" u="none" strike="noStrike" baseline="0" dirty="0"/>
              <a:t> </a:t>
            </a:r>
          </a:p>
          <a:p>
            <a:pPr lvl="1"/>
            <a:r>
              <a:rPr lang="en-US" sz="2200" b="0" i="1" u="none" strike="noStrike" baseline="0" dirty="0"/>
              <a:t>Semi-structured</a:t>
            </a:r>
            <a:r>
              <a:rPr lang="en-US" sz="2200" b="0" i="0" u="none" strike="noStrike" baseline="0" dirty="0"/>
              <a:t>: allow</a:t>
            </a:r>
            <a:r>
              <a:rPr lang="en-US" sz="2200" dirty="0"/>
              <a:t> </a:t>
            </a:r>
            <a:r>
              <a:rPr lang="en-US" sz="2200" b="0" i="0" u="none" strike="noStrike" baseline="0" dirty="0"/>
              <a:t>a data object to contain a set value, a small set of heterogeneous typed values, or nested structures, or to allow the structure of objects or sub-objects to be defined flexibly and dynamically  </a:t>
            </a:r>
          </a:p>
          <a:p>
            <a:pPr lvl="1"/>
            <a:r>
              <a:rPr lang="en-US" sz="2200" b="0" i="0" u="none" strike="noStrike" baseline="0" dirty="0"/>
              <a:t>Data having </a:t>
            </a:r>
            <a:r>
              <a:rPr lang="en-US" sz="2200" b="0" i="1" u="none" strike="noStrike" baseline="0" dirty="0"/>
              <a:t>certain structures </a:t>
            </a:r>
            <a:r>
              <a:rPr lang="en-US" sz="2200" b="0" i="0" u="none" strike="noStrike" baseline="0" dirty="0"/>
              <a:t>with clearly defined semantic meaning, such as </a:t>
            </a:r>
            <a:r>
              <a:rPr lang="en-US" sz="2200" b="0" i="1" u="none" strike="noStrike" baseline="0" dirty="0"/>
              <a:t>transactional data set, sequence data set </a:t>
            </a:r>
            <a:r>
              <a:rPr lang="en-US" sz="2200" b="0" i="0" u="none" strike="noStrike" baseline="0" dirty="0"/>
              <a:t>(e.g., time-series data, gene or protein data, or Weblog data)</a:t>
            </a:r>
          </a:p>
          <a:p>
            <a:pPr lvl="1"/>
            <a:r>
              <a:rPr lang="en-US" sz="2200" b="0" i="1" u="none" strike="noStrike" baseline="0" dirty="0"/>
              <a:t>Graph or network data:  </a:t>
            </a:r>
            <a:r>
              <a:rPr lang="en-US" sz="2200" b="0" i="0" u="none" strike="noStrike" baseline="0" dirty="0"/>
              <a:t>A more sophisticated type of semi-structured data set</a:t>
            </a:r>
            <a:endParaRPr lang="en-US" sz="2200" b="0" i="1" u="none" strike="noStrike" baseline="0" dirty="0"/>
          </a:p>
          <a:p>
            <a:pPr lvl="1"/>
            <a:r>
              <a:rPr lang="en-US" sz="2200" b="0" i="1" u="none" strike="noStrike" baseline="0" dirty="0"/>
              <a:t>Unstructured data</a:t>
            </a:r>
            <a:r>
              <a:rPr lang="en-US" sz="2200" b="0" i="0" u="none" strike="noStrike" baseline="0" dirty="0"/>
              <a:t>: text data and multimedia (</a:t>
            </a:r>
            <a:r>
              <a:rPr lang="en-US" sz="2200" b="0" i="1" u="none" strike="noStrike" baseline="0" dirty="0"/>
              <a:t>e.g.</a:t>
            </a:r>
            <a:r>
              <a:rPr lang="en-US" sz="2200" b="0" i="0" u="none" strike="noStrike" baseline="0" dirty="0"/>
              <a:t>, audio, image, video) data</a:t>
            </a:r>
          </a:p>
          <a:p>
            <a:pPr algn="l"/>
            <a:r>
              <a:rPr lang="en-US" sz="2200" b="0" i="0" u="none" strike="noStrike" baseline="0" dirty="0"/>
              <a:t>The real-world data can often be a mixture of structured, semi-structured data and unstructured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3366847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4000" b="1" dirty="0"/>
              <a:t>Diversity of Data Types for Data Mining (II)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985" y="1140737"/>
            <a:ext cx="11247063" cy="5495587"/>
          </a:xfrm>
        </p:spPr>
        <p:txBody>
          <a:bodyPr/>
          <a:lstStyle/>
          <a:p>
            <a:pPr>
              <a:spcAft>
                <a:spcPts val="300"/>
              </a:spcAft>
            </a:pPr>
            <a:r>
              <a:rPr lang="en-US" sz="2200" b="1" i="0" u="none" strike="noStrike" baseline="0" dirty="0"/>
              <a:t>Data associated with different applications</a:t>
            </a:r>
          </a:p>
          <a:p>
            <a:pPr lvl="1"/>
            <a:r>
              <a:rPr lang="en-US" sz="2200" b="0" i="0" u="none" strike="noStrike" baseline="0" dirty="0"/>
              <a:t>Different applications: different data sets and require different data analysis methods</a:t>
            </a:r>
          </a:p>
          <a:p>
            <a:pPr lvl="2"/>
            <a:r>
              <a:rPr lang="en-US" sz="2200" b="0" i="0" u="none" strike="noStrike" baseline="0" dirty="0"/>
              <a:t>Sequence data:</a:t>
            </a:r>
            <a:r>
              <a:rPr lang="en-US" sz="2200" dirty="0"/>
              <a:t> </a:t>
            </a:r>
            <a:r>
              <a:rPr lang="en-US" sz="2200" b="0" i="1" u="none" strike="noStrike" baseline="0" dirty="0"/>
              <a:t>Biological sequences</a:t>
            </a:r>
            <a:r>
              <a:rPr lang="en-US" sz="2200" b="0" i="0" u="none" strike="noStrike" baseline="0" dirty="0"/>
              <a:t> vs. </a:t>
            </a:r>
            <a:r>
              <a:rPr lang="en-US" sz="2200" b="0" i="1" u="none" strike="noStrike" baseline="0" dirty="0"/>
              <a:t>shopping transaction sequences</a:t>
            </a:r>
          </a:p>
          <a:p>
            <a:pPr lvl="2"/>
            <a:r>
              <a:rPr lang="en-US" sz="2200" b="0" i="1" u="none" strike="noStrike" baseline="0" dirty="0"/>
              <a:t>Time-series: </a:t>
            </a:r>
            <a:r>
              <a:rPr lang="en-US" sz="2200" b="0" i="0" u="none" strike="noStrike" baseline="0" dirty="0"/>
              <a:t>ordered set of numerical values with equal time interval</a:t>
            </a:r>
          </a:p>
          <a:p>
            <a:pPr lvl="2"/>
            <a:r>
              <a:rPr lang="en-US" sz="2200" b="0" i="1" u="none" strike="noStrike" baseline="0" dirty="0"/>
              <a:t>Spatial, temporal and spatiotemporal data</a:t>
            </a:r>
          </a:p>
          <a:p>
            <a:pPr lvl="2"/>
            <a:r>
              <a:rPr lang="en-US" sz="2200" dirty="0"/>
              <a:t>G</a:t>
            </a:r>
            <a:r>
              <a:rPr lang="en-US" sz="2200" b="0" i="0" u="none" strike="noStrike" baseline="0" dirty="0"/>
              <a:t>raph and network data: Social networks, computer communication networks, biological networks, and information networks may carry rather different semantics</a:t>
            </a:r>
          </a:p>
          <a:p>
            <a:pPr lvl="1"/>
            <a:r>
              <a:rPr lang="en-US" sz="2200" b="0" i="0" u="none" strike="noStrike" baseline="0" dirty="0"/>
              <a:t>On the same data set, finding different kinds of patterns: require different mining methods</a:t>
            </a:r>
          </a:p>
          <a:p>
            <a:pPr lvl="2"/>
            <a:r>
              <a:rPr lang="en-US" sz="2200" dirty="0"/>
              <a:t>Ex. </a:t>
            </a:r>
            <a:r>
              <a:rPr lang="en-US" sz="2200" b="0" i="0" u="none" strike="noStrike" baseline="0" dirty="0"/>
              <a:t>software programs:  finding plagiarized modules vs. finding copy-and-paste bugs</a:t>
            </a:r>
          </a:p>
          <a:p>
            <a:pPr>
              <a:spcAft>
                <a:spcPts val="300"/>
              </a:spcAft>
            </a:pPr>
            <a:r>
              <a:rPr lang="en-US" sz="2200" b="1" i="0" u="none" strike="noStrike" baseline="0" dirty="0"/>
              <a:t>Stored vs. streaming data</a:t>
            </a:r>
          </a:p>
          <a:p>
            <a:pPr lvl="1"/>
            <a:r>
              <a:rPr lang="en-US" sz="2200" dirty="0"/>
              <a:t>S</a:t>
            </a:r>
            <a:r>
              <a:rPr lang="en-US" sz="2200" b="0" i="0" u="none" strike="noStrike" baseline="0" dirty="0"/>
              <a:t>tored data: Finite, stored in various kinds of large data repositories</a:t>
            </a:r>
          </a:p>
          <a:p>
            <a:pPr lvl="1"/>
            <a:r>
              <a:rPr lang="en-US" sz="2200" dirty="0"/>
              <a:t>Streaming data (e.g., </a:t>
            </a:r>
            <a:r>
              <a:rPr lang="en-US" sz="2200" b="0" i="0" u="none" strike="noStrike" baseline="0" dirty="0"/>
              <a:t>video surveillance or remote sensing): Dynamic, constantly coming, infinite</a:t>
            </a:r>
            <a:r>
              <a:rPr lang="en-US" sz="2200" b="0" u="none" strike="noStrike" baseline="0" dirty="0"/>
              <a:t>, real-time response</a:t>
            </a:r>
            <a:r>
              <a:rPr lang="en-US" sz="2200" b="0" u="none" strike="noStrike" baseline="0" dirty="0">
                <a:cs typeface="Calibri" panose="020F0502020204030204" pitchFamily="34" charset="0"/>
              </a:rPr>
              <a:t>―posing challenges on effective data mining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379497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sz="4000" b="1" i="0" u="none" strike="noStrike" baseline="0" dirty="0"/>
              <a:t>Mining Various Kinds of Knowledge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8475" y="1140737"/>
            <a:ext cx="11009573" cy="5495587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Multidimensional Data Summarization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Mining Frequent Patterns, Associations, and Correlations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Classification and Regression for Predictive Analysis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Cluster Analysis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Deep Learning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Outlier Analysis</a:t>
            </a:r>
            <a:endParaRPr lang="en-US" sz="2400" b="1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Are All Mining Results Interesting?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93473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663388" y="142874"/>
            <a:ext cx="10865223" cy="712692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4400" b="1" i="0" u="none" strike="noStrike" baseline="0" dirty="0"/>
              <a:t>Multidimensional Data Summarization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2353" y="1295400"/>
            <a:ext cx="7826188" cy="523090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Information integration and data warehouse construction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Data cleaning, transformation, integration, and multidimensional data model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Data cube technology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Scalable methods for computing (i.e., materializing) multidimensional aggregates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OLAP (online analytical processing)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Multidimensional concept description: Characterization and discrimination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Generalize, summarize, and contrast data characteristics, e.g., dry vs. wet region</a:t>
            </a:r>
          </a:p>
        </p:txBody>
      </p:sp>
      <p:pic>
        <p:nvPicPr>
          <p:cNvPr id="5126" name="Picture 6" descr="http://www.aussurveys.com.au/wp-content/uploads/2013/09/img-cube-graphi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669" y="1843927"/>
            <a:ext cx="5238750" cy="29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938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rrelation 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601" y="2358982"/>
            <a:ext cx="6872694" cy="2341741"/>
          </a:xfrm>
          <a:prstGeom prst="rect">
            <a:avLst/>
          </a:prstGeom>
          <a:ln w="12700">
            <a:miter lim="400000"/>
          </a:ln>
        </p:spPr>
      </p:pic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06994"/>
            <a:ext cx="12192000" cy="615635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r>
              <a:rPr lang="en-US" altLang="en-US" b="1" dirty="0"/>
              <a:t>Pattern Discovery: </a:t>
            </a:r>
            <a:r>
              <a:rPr lang="en-US" sz="4400" b="1" i="0" u="none" strike="noStrike" baseline="0" dirty="0"/>
              <a:t>Mining Frequent Patterns, Associations, and Correlations</a:t>
            </a:r>
            <a:br>
              <a:rPr lang="en-US" sz="4400" b="1" i="0" u="none" strike="noStrike" baseline="0" dirty="0"/>
            </a:br>
            <a:endParaRPr lang="en-US" altLang="en-US" dirty="0"/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7528" y="1214719"/>
            <a:ext cx="10775577" cy="1636058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/>
            <a:r>
              <a:rPr lang="en-US" altLang="en-US" sz="2400" dirty="0"/>
              <a:t>Frequent patterns (or frequent </a:t>
            </a:r>
            <a:r>
              <a:rPr lang="en-US" altLang="en-US" sz="2400" dirty="0" err="1"/>
              <a:t>itemsets</a:t>
            </a:r>
            <a:r>
              <a:rPr lang="en-US" altLang="en-US" sz="2400" dirty="0"/>
              <a:t>)</a:t>
            </a:r>
          </a:p>
          <a:p>
            <a:pPr lvl="1" eaLnBrk="1" hangingPunct="1"/>
            <a:r>
              <a:rPr lang="en-US" altLang="en-US" sz="2400" dirty="0"/>
              <a:t>What items are frequently purchased together in your Walmart?</a:t>
            </a:r>
          </a:p>
          <a:p>
            <a:r>
              <a:rPr lang="en-US" altLang="en-US" sz="2400" dirty="0"/>
              <a:t>Association and Correlation Analysis </a:t>
            </a:r>
          </a:p>
          <a:p>
            <a:pPr>
              <a:spcAft>
                <a:spcPts val="600"/>
              </a:spcAft>
            </a:pPr>
            <a:endParaRPr lang="en-US" altLang="en-US" sz="24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27529" y="4459941"/>
            <a:ext cx="10650072" cy="2164976"/>
          </a:xfrm>
          <a:prstGeom prst="rect">
            <a:avLst/>
          </a:prstGeom>
          <a:noFill/>
        </p:spPr>
        <p:txBody>
          <a:bodyPr vert="horz" lIns="92075" tIns="46038" rIns="92075" bIns="4603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A typical association rule</a:t>
            </a:r>
          </a:p>
          <a:p>
            <a:pPr lvl="2"/>
            <a:r>
              <a:rPr lang="en-US" altLang="en-US" sz="2400" dirty="0"/>
              <a:t>Diaper </a:t>
            </a:r>
            <a:r>
              <a:rPr lang="en-US" altLang="en-US" sz="2400" dirty="0">
                <a:sym typeface="Wingdings" panose="05000000000000000000" pitchFamily="2" charset="2"/>
              </a:rPr>
              <a:t></a:t>
            </a:r>
            <a:r>
              <a:rPr lang="en-US" altLang="en-US" sz="2400" dirty="0"/>
              <a:t> Beer [0.5%, 75%]  (support, confidence)</a:t>
            </a:r>
          </a:p>
          <a:p>
            <a:pPr lvl="1"/>
            <a:r>
              <a:rPr lang="en-US" altLang="en-US" sz="2400" dirty="0"/>
              <a:t>Are strongly associated items also strongly correlated?</a:t>
            </a:r>
          </a:p>
          <a:p>
            <a:r>
              <a:rPr lang="en-US" altLang="en-US" sz="2400" dirty="0"/>
              <a:t>How to mine such patterns and rules efficiently in large datasets?</a:t>
            </a:r>
          </a:p>
          <a:p>
            <a:r>
              <a:rPr lang="en-US" altLang="en-US" sz="2400" dirty="0"/>
              <a:t>How to use such patterns for classification, clustering, and other applications?</a:t>
            </a:r>
          </a:p>
        </p:txBody>
      </p:sp>
    </p:spTree>
    <p:extLst>
      <p:ext uri="{BB962C8B-B14F-4D97-AF65-F5344CB8AC3E}">
        <p14:creationId xmlns:p14="http://schemas.microsoft.com/office/powerpoint/2010/main" val="361288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12191999" cy="807267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4000" b="1" i="0" u="none" strike="noStrike" baseline="0" dirty="0"/>
              <a:t>Classification and Regression for Predictive Analysis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8564" y="1201270"/>
            <a:ext cx="10972801" cy="5351929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/>
            <a:r>
              <a:rPr lang="en-US" altLang="en-US" sz="2400" dirty="0"/>
              <a:t>Classification and label prediction  </a:t>
            </a:r>
          </a:p>
          <a:p>
            <a:pPr lvl="1" eaLnBrk="1" hangingPunct="1"/>
            <a:r>
              <a:rPr lang="en-US" altLang="en-US" sz="2400" dirty="0"/>
              <a:t>Construct models (functions) based on some training examples</a:t>
            </a:r>
          </a:p>
          <a:p>
            <a:pPr lvl="1" eaLnBrk="1" hangingPunct="1"/>
            <a:r>
              <a:rPr lang="en-US" altLang="en-US" sz="2400" dirty="0"/>
              <a:t>Describe and distinguish classes or concepts for future prediction</a:t>
            </a:r>
          </a:p>
          <a:p>
            <a:pPr lvl="2" eaLnBrk="1" hangingPunct="1"/>
            <a:r>
              <a:rPr lang="en-US" altLang="en-US" sz="2400" dirty="0"/>
              <a:t>Ex. 1. Classify countries based on (climate)</a:t>
            </a:r>
          </a:p>
          <a:p>
            <a:pPr lvl="2" eaLnBrk="1" hangingPunct="1"/>
            <a:r>
              <a:rPr lang="en-US" altLang="en-US" sz="2400" dirty="0"/>
              <a:t>Ex. 2. Classify cars based on (gas mileage)</a:t>
            </a:r>
          </a:p>
          <a:p>
            <a:pPr lvl="1" eaLnBrk="1" hangingPunct="1"/>
            <a:r>
              <a:rPr lang="en-US" altLang="en-US" sz="2400" dirty="0"/>
              <a:t>Predict some unknown class labels</a:t>
            </a:r>
          </a:p>
          <a:p>
            <a:pPr eaLnBrk="1" hangingPunct="1"/>
            <a:r>
              <a:rPr lang="en-US" altLang="en-US" sz="2400" dirty="0"/>
              <a:t>Typical methods</a:t>
            </a:r>
          </a:p>
          <a:p>
            <a:pPr lvl="1" eaLnBrk="1" hangingPunct="1"/>
            <a:r>
              <a:rPr lang="en-US" altLang="en-US" sz="2400" dirty="0"/>
              <a:t>Decision trees, naïve Bayesian classification, support vector machines, neural networks, rule-based classification, pattern-based classification, logistic regression, …</a:t>
            </a:r>
          </a:p>
          <a:p>
            <a:pPr eaLnBrk="1" hangingPunct="1"/>
            <a:r>
              <a:rPr lang="en-US" altLang="en-US" sz="2400" dirty="0"/>
              <a:t>Typical applications:</a:t>
            </a:r>
          </a:p>
          <a:p>
            <a:pPr lvl="1" eaLnBrk="1" hangingPunct="1"/>
            <a:r>
              <a:rPr lang="en-US" altLang="en-US" sz="2400" dirty="0"/>
              <a:t>Credit card fraud detection, direct marketing, classifying stars, diseases,  web-pages, …</a:t>
            </a:r>
          </a:p>
        </p:txBody>
      </p:sp>
      <p:pic>
        <p:nvPicPr>
          <p:cNvPr id="6146" name="Picture 2" descr="https://upload.wikimedia.org/wikipedia/commons/thumb/6/65/Binary-classification-labeled.svg/220px-Binary-classification-labeled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4124" y="1567983"/>
            <a:ext cx="2095500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02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376518" y="304800"/>
            <a:ext cx="11403106" cy="6350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4400" b="1" i="0" u="none" strike="noStrike" baseline="0" dirty="0"/>
              <a:t>Cluster Analysis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2706" y="1295400"/>
            <a:ext cx="6051176" cy="4442012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Unsupervised learning (i.e., Class label is unknown)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Group data to form new categories (i.e., clusters), e.g., cluster houses to find distribution patterns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Principle: Maximizing intra-class similarity &amp; minimizing interclass similarity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Many methods and applications</a:t>
            </a:r>
          </a:p>
        </p:txBody>
      </p:sp>
      <p:pic>
        <p:nvPicPr>
          <p:cNvPr id="4" name="pasted-image.tiff"/>
          <p:cNvPicPr>
            <a:picLocks noChangeAspect="1"/>
          </p:cNvPicPr>
          <p:nvPr/>
        </p:nvPicPr>
        <p:blipFill>
          <a:blip r:embed="rId3"/>
          <a:srcRect l="5639" t="5639" r="5639" b="5639"/>
          <a:stretch>
            <a:fillRect/>
          </a:stretch>
        </p:blipFill>
        <p:spPr>
          <a:xfrm>
            <a:off x="6388686" y="1230218"/>
            <a:ext cx="5168901" cy="387667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90061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376518" y="304800"/>
            <a:ext cx="11403106" cy="6350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4400" b="1" i="0" u="none" strike="noStrike" baseline="0" dirty="0"/>
              <a:t>Deep Learning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5975" y="1213918"/>
            <a:ext cx="11060050" cy="52578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300"/>
              </a:spcAft>
            </a:pPr>
            <a:r>
              <a:rPr lang="en-US" sz="2400" b="0" i="0" u="none" strike="noStrike" baseline="0" dirty="0"/>
              <a:t>Deep learning: A fast expanding dynamic frontier in machine learning </a:t>
            </a:r>
          </a:p>
          <a:p>
            <a:pPr eaLnBrk="1" hangingPunct="1">
              <a:spcAft>
                <a:spcPts val="300"/>
              </a:spcAft>
            </a:pPr>
            <a:r>
              <a:rPr lang="en-US" sz="2400" b="0" u="none" strike="noStrike" baseline="0" dirty="0"/>
              <a:t>Deep learning has developed various </a:t>
            </a:r>
            <a:r>
              <a:rPr lang="en-US" sz="2400" b="0" i="1" u="none" strike="noStrike" baseline="0" dirty="0"/>
              <a:t>neural network architectures</a:t>
            </a:r>
          </a:p>
          <a:p>
            <a:pPr lvl="1">
              <a:spcAft>
                <a:spcPts val="300"/>
              </a:spcAft>
            </a:pPr>
            <a:r>
              <a:rPr lang="en-US" sz="2400" b="0" i="0" u="none" strike="noStrike" baseline="0" dirty="0"/>
              <a:t>Feed-forward neural networks</a:t>
            </a:r>
          </a:p>
          <a:p>
            <a:pPr lvl="1">
              <a:spcAft>
                <a:spcPts val="300"/>
              </a:spcAft>
            </a:pPr>
            <a:r>
              <a:rPr lang="en-US" sz="2400" b="0" i="0" u="none" strike="noStrike" baseline="0" dirty="0"/>
              <a:t>Convolutional neural networks</a:t>
            </a:r>
          </a:p>
          <a:p>
            <a:pPr lvl="1">
              <a:spcAft>
                <a:spcPts val="300"/>
              </a:spcAft>
            </a:pPr>
            <a:r>
              <a:rPr lang="en-US" sz="2400" b="0" i="0" u="none" strike="noStrike" baseline="0" dirty="0"/>
              <a:t>Recurrent neural networks</a:t>
            </a:r>
          </a:p>
          <a:p>
            <a:pPr lvl="1">
              <a:spcAft>
                <a:spcPts val="300"/>
              </a:spcAft>
            </a:pPr>
            <a:r>
              <a:rPr lang="en-US" sz="2400" b="0" i="0" u="none" strike="noStrike" baseline="0" dirty="0"/>
              <a:t>Graph neural networks</a:t>
            </a:r>
          </a:p>
          <a:p>
            <a:pPr lvl="1">
              <a:spcAft>
                <a:spcPts val="300"/>
              </a:spcAft>
            </a:pPr>
            <a:r>
              <a:rPr lang="en-US" sz="2400" dirty="0"/>
              <a:t>Transformer</a:t>
            </a:r>
          </a:p>
          <a:p>
            <a:pPr algn="l">
              <a:spcAft>
                <a:spcPts val="300"/>
              </a:spcAft>
            </a:pPr>
            <a:r>
              <a:rPr lang="en-US" sz="2400" b="0" i="0" u="none" strike="noStrike" baseline="0" dirty="0"/>
              <a:t>Deep learning has broad applications in computer vision, natural language processing, machine translation, social network analysis, and so on</a:t>
            </a:r>
          </a:p>
          <a:p>
            <a:pPr algn="l">
              <a:spcAft>
                <a:spcPts val="300"/>
              </a:spcAft>
            </a:pPr>
            <a:r>
              <a:rPr lang="en-US" sz="2400" dirty="0"/>
              <a:t>Deep learning </a:t>
            </a:r>
            <a:r>
              <a:rPr lang="en-US" sz="2400" b="0" i="0" u="none" strike="noStrike" baseline="0" dirty="0"/>
              <a:t>has been reshaping a variety of data mining tasks</a:t>
            </a:r>
          </a:p>
          <a:p>
            <a:pPr lvl="1">
              <a:spcAft>
                <a:spcPts val="300"/>
              </a:spcAft>
            </a:pPr>
            <a:r>
              <a:rPr lang="en-US" sz="2400" b="0" i="0" u="none" strike="noStrike" baseline="0" dirty="0"/>
              <a:t>Ex. classification, clustering, outlier detection, and reinforcement learning</a:t>
            </a:r>
            <a:endParaRPr lang="en-US" altLang="en-US" sz="2400" dirty="0"/>
          </a:p>
        </p:txBody>
      </p:sp>
      <p:pic>
        <p:nvPicPr>
          <p:cNvPr id="4098" name="Picture 2" descr="Demystifying deep learning – TechTalks">
            <a:extLst>
              <a:ext uri="{FF2B5EF4-FFF2-40B4-BE49-F238E27FC236}">
                <a16:creationId xmlns:a16="http://schemas.microsoft.com/office/drawing/2014/main" id="{02177DCF-9FD0-4BFC-414F-5FAA1F557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70" y="2163780"/>
            <a:ext cx="3911097" cy="219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8206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 descr="https://www.mathworks.com/matlabcentral/mlc-downloads/downloads/submissions/34795/versions/7/screensho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270" y="4269457"/>
            <a:ext cx="3343755" cy="2507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://photos1.blogger.com/x/blogger/5682/4111/1600/485624/Multivariate%20Outlier%20Exampl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424" y="4018760"/>
            <a:ext cx="4991580" cy="2758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546847" y="304800"/>
            <a:ext cx="11080377" cy="6350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b="1" dirty="0"/>
              <a:t>Outlier Analysis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847" y="1195295"/>
            <a:ext cx="8308602" cy="370690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Outlier analysis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Outlier: A data object that does not comply with the general behavior of the data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Noise or exception?</a:t>
            </a:r>
            <a:r>
              <a:rPr lang="en-US" altLang="en-US" sz="2400" dirty="0">
                <a:cs typeface="Tahoma" panose="020B0604030504040204" pitchFamily="34" charset="0"/>
              </a:rPr>
              <a:t>―One person’s garbage could be another person’s treasure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Methods: by product of clustering or regression analysis, …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Useful in fraud detection, rare events analysis</a:t>
            </a:r>
          </a:p>
        </p:txBody>
      </p:sp>
      <p:pic>
        <p:nvPicPr>
          <p:cNvPr id="8194" name="Picture 2" descr="Image result for outlier analysi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060" y="1195295"/>
            <a:ext cx="2466975" cy="18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597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https://planopedia.com/wp-content/uploads/2014/10/trend-analysi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552" y="1198537"/>
            <a:ext cx="3594053" cy="269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12191999" cy="9144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r>
              <a:rPr lang="en-US" altLang="en-US" sz="4000" b="1" dirty="0"/>
              <a:t>Other Data Mining Functions: Time and Ordering: Sequential Pattern, Trend and Evolution Analysis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4775" y="1362634"/>
            <a:ext cx="8884026" cy="5163671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Sequence, trend and evolution analysis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Trend, time-series, and deviation analysis</a:t>
            </a:r>
          </a:p>
          <a:p>
            <a:pPr lvl="2"/>
            <a:r>
              <a:rPr lang="en-US" altLang="en-US" sz="2400" dirty="0"/>
              <a:t>e.g., regression and value prediction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Sequential pattern mining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400" dirty="0"/>
              <a:t>e.g., buy digital camera, then buy </a:t>
            </a:r>
            <a:r>
              <a:rPr lang="en-US" altLang="en-US" sz="2400" dirty="0">
                <a:sym typeface="Wingdings" panose="05000000000000000000" pitchFamily="2" charset="2"/>
              </a:rPr>
              <a:t>large memory cards</a:t>
            </a:r>
            <a:endParaRPr lang="en-US" altLang="en-US" sz="2400" dirty="0"/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Periodicity analysis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Motifs and biological sequence analysis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400" dirty="0"/>
              <a:t>Approximate and consecutive motifs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Similarity-based analysis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Mining data streams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Ordered, time-varying, potentially infinite, data streams</a:t>
            </a:r>
          </a:p>
        </p:txBody>
      </p:sp>
      <p:pic>
        <p:nvPicPr>
          <p:cNvPr id="5" name="time series.png"/>
          <p:cNvPicPr>
            <a:picLocks noChangeAspect="1"/>
          </p:cNvPicPr>
          <p:nvPr/>
        </p:nvPicPr>
        <p:blipFill>
          <a:blip r:embed="rId4"/>
          <a:srcRect l="5041"/>
          <a:stretch>
            <a:fillRect/>
          </a:stretch>
        </p:blipFill>
        <p:spPr>
          <a:xfrm>
            <a:off x="8470528" y="3916034"/>
            <a:ext cx="2860860" cy="277436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61810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5" descr="email-networ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98" y="1253141"/>
            <a:ext cx="4042611" cy="3857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591671" y="152400"/>
            <a:ext cx="10936941" cy="9144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r>
              <a:rPr lang="en-US" altLang="en-US" b="1" dirty="0"/>
              <a:t>Other Data Mining Functions: Structure and Network Analysis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6506" y="1066800"/>
            <a:ext cx="10950388" cy="5692588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Graph mining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Finding frequent subgraphs (e.g., chemical compounds), trees (XML), substructures (web fragments)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Information network analysis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Social networks: actors (objects, nodes) and relationships (edges)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400" dirty="0"/>
              <a:t>e.g., author networks in CS, terrorist networks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Multiple heterogeneous networks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400" dirty="0"/>
              <a:t>A person could be multiple information networks: friends, family, classmates, …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Links carry a lot of semantic information: Link mining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Web mining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Web is a big information network: from PageRank to Google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Analysis of Web information networks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400" dirty="0"/>
              <a:t>Web community discovery, opinion mining, usage mining, …</a:t>
            </a:r>
          </a:p>
        </p:txBody>
      </p:sp>
    </p:spTree>
    <p:extLst>
      <p:ext uri="{BB962C8B-B14F-4D97-AF65-F5344CB8AC3E}">
        <p14:creationId xmlns:p14="http://schemas.microsoft.com/office/powerpoint/2010/main" val="940126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Evaluation of Knowledge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045" y="1143000"/>
            <a:ext cx="10874855" cy="52578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Are all mined knowledge interesting?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One can mine tremendous amount of “patterns” 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Some may fit only certain dimension space (time, location, …)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Some may not be representative, may be transient, …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Evaluation of mined knowledge </a:t>
            </a:r>
            <a:r>
              <a:rPr lang="en-US" altLang="en-US" sz="2400" dirty="0">
                <a:cs typeface="Arial" panose="020B0604020202020204" pitchFamily="34" charset="0"/>
              </a:rPr>
              <a:t>→ directly mining only interesting knowledge?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Descriptive vs. predictive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Coverage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Typicality vs. novelty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Accuracy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Timeliness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…</a:t>
            </a:r>
          </a:p>
        </p:txBody>
      </p:sp>
      <p:pic>
        <p:nvPicPr>
          <p:cNvPr id="10242" name="Picture 2" descr="http://ieg.worldbankgroup.org/Data/knowledge_banner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853" y="4117397"/>
            <a:ext cx="462915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545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224118" y="266700"/>
            <a:ext cx="11591364" cy="7620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b="1" dirty="0"/>
              <a:t>Data Mining: Confluence of Multiple Disciplines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0D8C16-FDF1-8962-8B06-F99A34BA3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043" y="1417281"/>
            <a:ext cx="10523539" cy="49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47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636495" y="304799"/>
            <a:ext cx="10981764" cy="77993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b="1" dirty="0"/>
              <a:t>Why Confluence of Multiple Disciplines?</a:t>
            </a:r>
            <a:endParaRPr lang="en-US" altLang="en-US" b="1" u="sng" dirty="0"/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6495" y="1295400"/>
            <a:ext cx="10892117" cy="51816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Tremendous amount of data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Algorithms must be scalable to handle big data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High-dimensionality of data 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Micro-array may have tens of thousands of dimensions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High complexity of data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Data streams and sensor data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Time-series data, temporal data, sequence data 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Structure data, graphs, social and information networks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Spatial, spatiotemporal, multimedia, text and Web data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Software programs, scientific simulations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New and sophisticated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75532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Data Mining and Applications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5118" y="1308847"/>
            <a:ext cx="11115830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Web page analysis: classification, clustering, ranking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Collaborative analysis &amp; recommender systems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Basket data analysis to targeted marketing</a:t>
            </a:r>
            <a:r>
              <a:rPr lang="zh-CN" altLang="en-US" sz="2400" dirty="0"/>
              <a:t>如投资组合推荐</a:t>
            </a:r>
            <a:endParaRPr lang="en-US" altLang="en-US" sz="2400" dirty="0"/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Biological and medical data analysis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and software engineering 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and text analysis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and social and information network analysis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Built-in (invisible data mining) functions in Google, Microsoft, LinkedIn, Meta, … 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Major dedicated data mining systems/tools </a:t>
            </a:r>
          </a:p>
          <a:p>
            <a:pPr lvl="1">
              <a:lnSpc>
                <a:spcPct val="120000"/>
              </a:lnSpc>
            </a:pPr>
            <a:r>
              <a:rPr lang="en-US" altLang="en-US" sz="2400" dirty="0"/>
              <a:t>SAS, MS SQL-Server Analysis Manager, Oracle Data Mining Tools)</a:t>
            </a:r>
          </a:p>
        </p:txBody>
      </p:sp>
      <p:pic>
        <p:nvPicPr>
          <p:cNvPr id="4098" name="Picture 2" descr="http://www.aia.es/wp-content/uploads/2012/09/recommendation_system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0192" y="1378737"/>
            <a:ext cx="33147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4207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Data Mining and Society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5118" y="1200205"/>
            <a:ext cx="10983318" cy="534545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sz="2400" b="0" i="0" u="none" strike="noStrike" baseline="0" dirty="0"/>
              <a:t>Data mining technology may benefit society </a:t>
            </a:r>
            <a:r>
              <a:rPr lang="en-US" sz="2400" b="0" i="0" u="none" strike="noStrike" baseline="0" dirty="0">
                <a:solidFill>
                  <a:srgbClr val="FF0000"/>
                </a:solidFill>
              </a:rPr>
              <a:t>KKD</a:t>
            </a:r>
            <a:r>
              <a:rPr lang="zh-CN" altLang="en-US" sz="2400" b="0" i="0" u="none" strike="noStrike" baseline="0" dirty="0">
                <a:solidFill>
                  <a:srgbClr val="FF0000"/>
                </a:solidFill>
              </a:rPr>
              <a:t>里面有一个专门的</a:t>
            </a:r>
            <a:r>
              <a:rPr lang="en-US" altLang="zh-CN" sz="2400" b="0" i="0" u="none" strike="noStrike" baseline="0" dirty="0">
                <a:solidFill>
                  <a:srgbClr val="FF0000"/>
                </a:solidFill>
              </a:rPr>
              <a:t>financial trunk</a:t>
            </a:r>
            <a:endParaRPr lang="en-US" sz="2400" b="0" i="0" u="none" strike="noStrike" baseline="0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sz="2400" b="0" i="0" u="none" strike="noStrike" baseline="0" dirty="0"/>
              <a:t>Ex.: Help scientific discovery, business management, economy recovery, and security protection (</a:t>
            </a:r>
            <a:r>
              <a:rPr lang="en-US" sz="2400" b="0" i="1" u="none" strike="noStrike" baseline="0" dirty="0"/>
              <a:t>e.g.</a:t>
            </a:r>
            <a:r>
              <a:rPr lang="en-US" sz="2400" b="0" i="0" u="none" strike="noStrike" baseline="0" dirty="0"/>
              <a:t>, the real-time discovery of intruders and cyberattacks)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b="0" i="0" u="none" strike="noStrike" baseline="0" dirty="0"/>
              <a:t>Need to guard against the misuse of data mining </a:t>
            </a:r>
            <a:r>
              <a:rPr lang="zh-CN" altLang="en-US" sz="2400" b="0" i="0" u="none" strike="noStrike" baseline="0" dirty="0"/>
              <a:t>保护隐私</a:t>
            </a:r>
            <a:endParaRPr lang="en-US" sz="2400" b="0" i="0" u="none" strike="noStrike" baseline="0" dirty="0"/>
          </a:p>
          <a:p>
            <a:pPr lvl="1"/>
            <a:r>
              <a:rPr lang="en-US" sz="2400" b="0" i="0" u="none" strike="noStrike" baseline="0" dirty="0"/>
              <a:t>Data mining also poses the risk of unintentionally disclosing some confidential business or government information and disclosing an individual’s personal information</a:t>
            </a:r>
          </a:p>
          <a:p>
            <a:pPr algn="l"/>
            <a:r>
              <a:rPr lang="en-US" sz="2400" b="0" i="0" u="none" strike="noStrike" baseline="0" dirty="0"/>
              <a:t>Studies on data security in data mining and privacy-preserving data publishing and data mining are important, ongoing research theme </a:t>
            </a:r>
          </a:p>
          <a:p>
            <a:pPr lvl="1"/>
            <a:r>
              <a:rPr lang="en-US" sz="2400" b="0" i="0" u="none" strike="noStrike" baseline="0" dirty="0"/>
              <a:t>The philosophy is to observe data sensitivity and preserve data security and people’s privacy while performing successful data mining</a:t>
            </a:r>
          </a:p>
          <a:p>
            <a:pPr algn="l"/>
            <a:r>
              <a:rPr lang="en-US" sz="2400" b="0" i="0" u="none" strike="noStrike" baseline="0" dirty="0"/>
              <a:t>These and other related issues will be discussed throughout the book</a:t>
            </a:r>
            <a:endParaRPr lang="en-US" sz="3200" b="0" i="0" u="none" strike="noStrike" baseline="0" dirty="0"/>
          </a:p>
        </p:txBody>
      </p:sp>
    </p:spTree>
    <p:extLst>
      <p:ext uri="{BB962C8B-B14F-4D97-AF65-F5344CB8AC3E}">
        <p14:creationId xmlns:p14="http://schemas.microsoft.com/office/powerpoint/2010/main" val="758989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28600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1.  Introduction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388" y="1294960"/>
            <a:ext cx="10865223" cy="5257800"/>
          </a:xfrm>
        </p:spPr>
        <p:txBody>
          <a:bodyPr/>
          <a:lstStyle/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Why Data Mining?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What Is Data Mining?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A Multi-Dimensional View of Data Mining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What Kinds of Data Can Be Mined?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What Kinds of Patterns Can Be Mined?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What Kinds of Technologies Are Used?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What Kinds of Applications Are Targeted? 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Major Issues in Data Mining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A Brief History of Data Mining and Data Mining Society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Summary</a:t>
            </a:r>
          </a:p>
        </p:txBody>
      </p:sp>
      <p:sp>
        <p:nvSpPr>
          <p:cNvPr id="16389" name="AutoShape 4"/>
          <p:cNvSpPr>
            <a:spLocks noChangeArrowheads="1"/>
          </p:cNvSpPr>
          <p:nvPr/>
        </p:nvSpPr>
        <p:spPr bwMode="auto">
          <a:xfrm rot="9724325">
            <a:off x="4887675" y="4825345"/>
            <a:ext cx="480709" cy="376632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1526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49" y="304800"/>
            <a:ext cx="10963275" cy="70485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dirty="0"/>
              <a:t>Major Issues in Data Mining (1)</a:t>
            </a:r>
            <a:endParaRPr lang="en-US" altLang="en-US" u="sng" dirty="0"/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0549" y="1085850"/>
            <a:ext cx="10963275" cy="565785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Mining Methodology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Mining various and new kinds of knowledge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Mining knowledge in multi-dimensional space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Data mining: An interdisciplinary effort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Boosting the power of discovery in a networked environment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Handling noise, uncertainty, and incompleteness of data</a:t>
            </a:r>
            <a:r>
              <a:rPr lang="zh-CN" altLang="en-US" sz="2400" dirty="0">
                <a:solidFill>
                  <a:srgbClr val="FF0000"/>
                </a:solidFill>
              </a:rPr>
              <a:t>第二章讲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Pattern evaluation and pattern- or constraint-guided mining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User Interaction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Interactive mining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Incorporation of background knowledge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Presentation and visualization of data mining results</a:t>
            </a:r>
          </a:p>
        </p:txBody>
      </p:sp>
    </p:spTree>
    <p:extLst>
      <p:ext uri="{BB962C8B-B14F-4D97-AF65-F5344CB8AC3E}">
        <p14:creationId xmlns:p14="http://schemas.microsoft.com/office/powerpoint/2010/main" val="3343990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49" y="304800"/>
            <a:ext cx="10982325" cy="585788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dirty="0"/>
              <a:t>Major Issues in Data Mining (2)</a:t>
            </a:r>
            <a:endParaRPr lang="en-US" altLang="en-US" u="sng" dirty="0"/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0549" y="1266825"/>
            <a:ext cx="10982325" cy="528637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Efficiency and Scalability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Efficiency and scalability of data mining algorithms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Parallel, distributed, stream, and incremental mining methods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Diversity of data types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Handling complex types of data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Mining dynamic, networked, and global data repositories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and society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Social impacts of data mining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Privacy-preserving data mining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Invisible data mining</a:t>
            </a:r>
          </a:p>
        </p:txBody>
      </p:sp>
    </p:spTree>
    <p:extLst>
      <p:ext uri="{BB962C8B-B14F-4D97-AF65-F5344CB8AC3E}">
        <p14:creationId xmlns:p14="http://schemas.microsoft.com/office/powerpoint/2010/main" val="3628611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28600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1.  Introduction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388" y="1294960"/>
            <a:ext cx="10865223" cy="5257800"/>
          </a:xfrm>
        </p:spPr>
        <p:txBody>
          <a:bodyPr/>
          <a:lstStyle/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Why Data Mining?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What Is Data Mining?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A Multi-Dimensional View of Data Mining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What Kinds of Data Can Be Mined?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What Kinds of Patterns Can Be Mined?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What Kinds of Technologies Are Used?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What Kinds of Applications Are Targeted? 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Major Issues in Data Mining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A Brief History of Data Mining and Data Mining Society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Summary</a:t>
            </a:r>
          </a:p>
        </p:txBody>
      </p:sp>
      <p:sp>
        <p:nvSpPr>
          <p:cNvPr id="16389" name="AutoShape 4"/>
          <p:cNvSpPr>
            <a:spLocks noChangeArrowheads="1"/>
          </p:cNvSpPr>
          <p:nvPr/>
        </p:nvSpPr>
        <p:spPr bwMode="auto">
          <a:xfrm rot="9724325">
            <a:off x="8288100" y="5377795"/>
            <a:ext cx="480709" cy="376632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2518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542925" y="304800"/>
            <a:ext cx="11010900" cy="7620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dirty="0"/>
              <a:t>A Brief History of Data Mining Society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025" y="1133475"/>
            <a:ext cx="10972800" cy="554355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/>
            <a:r>
              <a:rPr lang="en-US" altLang="en-US" sz="2400" dirty="0"/>
              <a:t>1989 IJCAI Workshop on Knowledge Discovery in Databases </a:t>
            </a:r>
          </a:p>
          <a:p>
            <a:pPr lvl="1" eaLnBrk="1" hangingPunct="1"/>
            <a:r>
              <a:rPr lang="en-US" altLang="en-US" sz="2400" dirty="0"/>
              <a:t>Knowledge Discovery in Databases (G. </a:t>
            </a:r>
            <a:r>
              <a:rPr lang="en-US" altLang="en-US" sz="2400" dirty="0" err="1"/>
              <a:t>Piatetsky</a:t>
            </a:r>
            <a:r>
              <a:rPr lang="en-US" altLang="en-US" sz="2400" dirty="0"/>
              <a:t>-Shapiro and W. Frawley, 1991)</a:t>
            </a:r>
          </a:p>
          <a:p>
            <a:pPr eaLnBrk="1" hangingPunct="1"/>
            <a:r>
              <a:rPr lang="en-US" altLang="en-US" sz="2400" dirty="0"/>
              <a:t>1991-1994 Workshops on Knowledge Discovery in Databases</a:t>
            </a:r>
          </a:p>
          <a:p>
            <a:pPr lvl="1" eaLnBrk="1" hangingPunct="1"/>
            <a:r>
              <a:rPr lang="en-US" altLang="en-US" sz="2400" dirty="0"/>
              <a:t>Advances in Knowledge Discovery and Data Mining (U. Fayyad, G. </a:t>
            </a:r>
            <a:r>
              <a:rPr lang="en-US" altLang="en-US" sz="2400" dirty="0" err="1"/>
              <a:t>Piatetsky</a:t>
            </a:r>
            <a:r>
              <a:rPr lang="en-US" altLang="en-US" sz="2400" dirty="0"/>
              <a:t>-Shapiro, P. Smyth, and R. </a:t>
            </a:r>
            <a:r>
              <a:rPr lang="en-US" altLang="en-US" sz="2400" dirty="0" err="1"/>
              <a:t>Uthurusamy</a:t>
            </a:r>
            <a:r>
              <a:rPr lang="en-US" altLang="en-US" sz="2400" dirty="0"/>
              <a:t>, 1996)</a:t>
            </a:r>
          </a:p>
          <a:p>
            <a:pPr eaLnBrk="1" hangingPunct="1"/>
            <a:r>
              <a:rPr lang="en-US" altLang="en-US" sz="2400" dirty="0"/>
              <a:t>1995-1998 International Conferences on Knowledge Discovery in Databases and Data Mining (KDD’95-98)</a:t>
            </a:r>
          </a:p>
          <a:p>
            <a:pPr lvl="1" eaLnBrk="1" hangingPunct="1"/>
            <a:r>
              <a:rPr lang="en-US" altLang="en-US" sz="2400" dirty="0"/>
              <a:t>Journal of Data Mining and Knowledge Discovery (1997)</a:t>
            </a:r>
          </a:p>
          <a:p>
            <a:pPr eaLnBrk="1" hangingPunct="1"/>
            <a:r>
              <a:rPr lang="en-US" altLang="en-US" sz="2400" dirty="0"/>
              <a:t>ACM SIGKDD conferences since 1998 and SIGKDD Explorations</a:t>
            </a:r>
          </a:p>
          <a:p>
            <a:pPr eaLnBrk="1" hangingPunct="1"/>
            <a:r>
              <a:rPr lang="en-US" altLang="en-US" sz="2400" dirty="0"/>
              <a:t>More conferences on data mining</a:t>
            </a:r>
          </a:p>
          <a:p>
            <a:pPr lvl="1" eaLnBrk="1" hangingPunct="1"/>
            <a:r>
              <a:rPr lang="en-US" altLang="en-US" sz="2400" dirty="0"/>
              <a:t>PAKDD (1997), PKDD (1997), SIAM-Data Mining (2001), (IEEE) ICDM (2001), WSDM (2008), etc.</a:t>
            </a:r>
          </a:p>
          <a:p>
            <a:pPr eaLnBrk="1" hangingPunct="1"/>
            <a:r>
              <a:rPr lang="en-US" altLang="en-US" sz="2400" dirty="0"/>
              <a:t>ACM Transactions on KDD (2007)</a:t>
            </a:r>
          </a:p>
        </p:txBody>
      </p:sp>
    </p:spTree>
    <p:extLst>
      <p:ext uri="{BB962C8B-B14F-4D97-AF65-F5344CB8AC3E}">
        <p14:creationId xmlns:p14="http://schemas.microsoft.com/office/powerpoint/2010/main" val="2508414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228600"/>
            <a:ext cx="10953750" cy="7620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dirty="0"/>
              <a:t>Conferences and Journals on Data Mining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2450" y="1143000"/>
            <a:ext cx="5772150" cy="57150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KDD Conferences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ACM SIGKDD Int. Conf. on Knowledge Discovery in Databases and Data Mining (</a:t>
            </a:r>
            <a:r>
              <a:rPr lang="en-US" altLang="en-US" sz="2400" dirty="0">
                <a:solidFill>
                  <a:schemeClr val="hlink"/>
                </a:solidFill>
              </a:rPr>
              <a:t>KDD</a:t>
            </a:r>
            <a:r>
              <a:rPr lang="en-US" altLang="en-US" sz="2400" dirty="0"/>
              <a:t>)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SIAM Data Mining Conf. (</a:t>
            </a:r>
            <a:r>
              <a:rPr lang="en-US" altLang="en-US" sz="2400" dirty="0">
                <a:solidFill>
                  <a:schemeClr val="hlink"/>
                </a:solidFill>
              </a:rPr>
              <a:t>SDM</a:t>
            </a:r>
            <a:r>
              <a:rPr lang="en-US" altLang="en-US" sz="2400" dirty="0"/>
              <a:t>)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(IEEE) Int. Conf. on Data Mining (</a:t>
            </a:r>
            <a:r>
              <a:rPr lang="en-US" altLang="en-US" sz="2400" dirty="0">
                <a:solidFill>
                  <a:schemeClr val="hlink"/>
                </a:solidFill>
              </a:rPr>
              <a:t>ICDM</a:t>
            </a:r>
            <a:r>
              <a:rPr lang="en-US" altLang="en-US" sz="2400" dirty="0"/>
              <a:t>)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European Conf. on Machine Learning and Principles and practices of Knowledge Discovery and Data Mining (</a:t>
            </a:r>
            <a:r>
              <a:rPr lang="en-US" altLang="en-US" sz="2400" dirty="0">
                <a:solidFill>
                  <a:srgbClr val="FF0000"/>
                </a:solidFill>
              </a:rPr>
              <a:t>ECML</a:t>
            </a:r>
            <a:r>
              <a:rPr lang="en-US" altLang="en-US" sz="2400" dirty="0"/>
              <a:t>-</a:t>
            </a:r>
            <a:r>
              <a:rPr lang="en-US" altLang="en-US" sz="2400" dirty="0">
                <a:solidFill>
                  <a:schemeClr val="hlink"/>
                </a:solidFill>
              </a:rPr>
              <a:t>PKDD</a:t>
            </a:r>
            <a:r>
              <a:rPr lang="en-US" altLang="en-US" sz="2400" dirty="0"/>
              <a:t>)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Pacific-Asia Conf. on Knowledge Discovery and Data Mining (</a:t>
            </a:r>
            <a:r>
              <a:rPr lang="en-US" altLang="en-US" sz="2400" dirty="0">
                <a:solidFill>
                  <a:schemeClr val="hlink"/>
                </a:solidFill>
              </a:rPr>
              <a:t>PAKDD</a:t>
            </a:r>
            <a:r>
              <a:rPr lang="en-US" altLang="en-US" sz="2400" dirty="0"/>
              <a:t>)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Int. Conf. on Web Search and Data Mining (</a:t>
            </a:r>
            <a:r>
              <a:rPr lang="en-US" altLang="en-US" sz="2400" dirty="0">
                <a:solidFill>
                  <a:srgbClr val="FF0000"/>
                </a:solidFill>
              </a:rPr>
              <a:t>WSDM</a:t>
            </a:r>
            <a:r>
              <a:rPr lang="en-US" altLang="en-US" sz="2400" dirty="0"/>
              <a:t>)</a:t>
            </a:r>
          </a:p>
        </p:txBody>
      </p:sp>
      <p:sp>
        <p:nvSpPr>
          <p:cNvPr id="49157" name="Rectangle 4"/>
          <p:cNvSpPr>
            <a:spLocks noChangeArrowheads="1"/>
          </p:cNvSpPr>
          <p:nvPr/>
        </p:nvSpPr>
        <p:spPr bwMode="auto">
          <a:xfrm>
            <a:off x="6324600" y="1143000"/>
            <a:ext cx="5495925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ts val="4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latin typeface="+mn-lt"/>
              </a:rPr>
              <a:t>Other related conferences</a:t>
            </a:r>
          </a:p>
          <a:p>
            <a:pPr lvl="1" eaLnBrk="1" hangingPunct="1">
              <a:spcBef>
                <a:spcPts val="4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000" dirty="0">
                <a:latin typeface="+mn-lt"/>
              </a:rPr>
              <a:t>DB conferences: ACM SIGMOD, VLDB, ICDE, EDBT, ICDT, …</a:t>
            </a:r>
          </a:p>
          <a:p>
            <a:pPr lvl="1" eaLnBrk="1" hangingPunct="1">
              <a:spcBef>
                <a:spcPts val="4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000" dirty="0">
                <a:latin typeface="+mn-lt"/>
              </a:rPr>
              <a:t>Web and IR conferences: WWW, SIGIR, WSDM</a:t>
            </a:r>
          </a:p>
          <a:p>
            <a:pPr lvl="1" eaLnBrk="1" hangingPunct="1">
              <a:spcBef>
                <a:spcPts val="4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+mn-lt"/>
              </a:rPr>
              <a:t>Big data field: IEEE Big Data</a:t>
            </a:r>
            <a:endParaRPr lang="en-US" altLang="en-US" sz="2000" dirty="0">
              <a:latin typeface="+mn-lt"/>
            </a:endParaRPr>
          </a:p>
          <a:p>
            <a:pPr lvl="1" eaLnBrk="1" hangingPunct="1">
              <a:spcBef>
                <a:spcPts val="4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000" dirty="0">
                <a:latin typeface="+mn-lt"/>
              </a:rPr>
              <a:t>ML conferences: ICML, NIPS</a:t>
            </a:r>
          </a:p>
          <a:p>
            <a:pPr lvl="1" eaLnBrk="1" hangingPunct="1">
              <a:spcBef>
                <a:spcPts val="4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000" dirty="0">
                <a:latin typeface="+mn-lt"/>
              </a:rPr>
              <a:t>PR conferences: CVPR,  ICPR</a:t>
            </a:r>
          </a:p>
          <a:p>
            <a:pPr eaLnBrk="1" hangingPunct="1">
              <a:spcBef>
                <a:spcPts val="4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>
                <a:latin typeface="+mn-lt"/>
              </a:rPr>
              <a:t>Journals </a:t>
            </a:r>
          </a:p>
          <a:p>
            <a:pPr lvl="1" eaLnBrk="1" hangingPunct="1">
              <a:spcBef>
                <a:spcPts val="4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000" dirty="0"/>
              <a:t>IEEE Trans. On Knowledge and Data Eng. (</a:t>
            </a:r>
            <a:r>
              <a:rPr lang="en-US" altLang="en-US" sz="2000" b="1" dirty="0"/>
              <a:t>TKDE</a:t>
            </a:r>
            <a:r>
              <a:rPr lang="en-US" altLang="en-US" sz="2000" dirty="0"/>
              <a:t>)</a:t>
            </a:r>
          </a:p>
          <a:p>
            <a:pPr lvl="1" eaLnBrk="1" hangingPunct="1">
              <a:spcBef>
                <a:spcPts val="4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000" dirty="0"/>
              <a:t>ACM Trans. on KDD (</a:t>
            </a:r>
            <a:r>
              <a:rPr lang="en-US" altLang="en-US" sz="2000" b="1" dirty="0"/>
              <a:t>TKDD</a:t>
            </a:r>
            <a:r>
              <a:rPr lang="en-US" altLang="en-US" sz="2000" dirty="0"/>
              <a:t>)</a:t>
            </a:r>
            <a:endParaRPr lang="en-US" altLang="en-US" sz="2000" dirty="0">
              <a:latin typeface="+mn-lt"/>
            </a:endParaRPr>
          </a:p>
          <a:p>
            <a:pPr lvl="1" eaLnBrk="1" hangingPunct="1">
              <a:spcBef>
                <a:spcPts val="4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000" dirty="0">
                <a:latin typeface="+mn-lt"/>
              </a:rPr>
              <a:t>Data Mining and Knowledge Discovery (DAMI or DMKD)</a:t>
            </a:r>
          </a:p>
          <a:p>
            <a:pPr lvl="1" eaLnBrk="1" hangingPunct="1">
              <a:spcBef>
                <a:spcPts val="4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000" dirty="0">
                <a:latin typeface="+mn-lt"/>
              </a:rPr>
              <a:t>KDD Explorations</a:t>
            </a:r>
          </a:p>
        </p:txBody>
      </p:sp>
    </p:spTree>
    <p:extLst>
      <p:ext uri="{BB962C8B-B14F-4D97-AF65-F5344CB8AC3E}">
        <p14:creationId xmlns:p14="http://schemas.microsoft.com/office/powerpoint/2010/main" val="21577974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12191999" cy="8382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sz="4000" dirty="0"/>
              <a:t>Where to Find References? DBLP, </a:t>
            </a:r>
            <a:r>
              <a:rPr lang="en-US" altLang="en-US" sz="4000" dirty="0" err="1"/>
              <a:t>CiteSeer</a:t>
            </a:r>
            <a:r>
              <a:rPr lang="en-US" altLang="en-US" sz="4000" dirty="0"/>
              <a:t>, Google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085849"/>
            <a:ext cx="11172825" cy="562927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u="sng" dirty="0"/>
              <a:t>Data mining and KDD (SIGKDD)</a:t>
            </a:r>
          </a:p>
          <a:p>
            <a:pPr lvl="1" eaLnBrk="1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dirty="0"/>
              <a:t>Conferences: ACM-SIGKDD, IEEE-ICDM, SIAM-DM, PKDD, PAKDD, etc.</a:t>
            </a:r>
          </a:p>
          <a:p>
            <a:pPr lvl="1" eaLnBrk="1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dirty="0"/>
              <a:t>Journal: Data Mining and Knowledge Discovery, KDD Explorations, ACM TKDD</a:t>
            </a:r>
            <a:endParaRPr lang="en-US" altLang="en-US" sz="1800" u="sng" dirty="0"/>
          </a:p>
          <a:p>
            <a:pPr eaLnBrk="1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u="sng" dirty="0"/>
              <a:t>Database systems (SIGMOD)</a:t>
            </a:r>
          </a:p>
          <a:p>
            <a:pPr lvl="1" eaLnBrk="1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dirty="0"/>
              <a:t>Conferences: ACM-SIGMOD, ACM-PODS, VLDB, IEEE-ICDE, EDBT, ICDT, DASFAA</a:t>
            </a:r>
          </a:p>
          <a:p>
            <a:pPr lvl="1" eaLnBrk="1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dirty="0"/>
              <a:t>Journals: IEEE-TKDE, ACM-TODS/TOIS, JIIS, J. ACM, VLDB J., Info. Sys., etc.</a:t>
            </a:r>
            <a:endParaRPr lang="en-US" altLang="en-US" sz="1800" u="sng" dirty="0"/>
          </a:p>
          <a:p>
            <a:pPr eaLnBrk="1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u="sng" dirty="0"/>
              <a:t>AI &amp; Machine Learning</a:t>
            </a:r>
          </a:p>
          <a:p>
            <a:pPr lvl="1" eaLnBrk="1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dirty="0"/>
              <a:t>Conferences: Machine learning (ML), AAAI, IJCAI, COLT (Learning Theory), CVPR, NIPS, etc.</a:t>
            </a:r>
          </a:p>
          <a:p>
            <a:pPr lvl="1" eaLnBrk="1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dirty="0"/>
              <a:t>Journals: Machine Learning, Artificial Intelligence, Knowledge and Information Systems, IEEE-PAMI, etc.</a:t>
            </a:r>
          </a:p>
          <a:p>
            <a:pPr eaLnBrk="1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u="sng" dirty="0"/>
              <a:t>Web and IR</a:t>
            </a:r>
            <a:r>
              <a:rPr lang="en-US" altLang="en-US" sz="1800" b="1" u="sng" dirty="0"/>
              <a:t> </a:t>
            </a:r>
          </a:p>
          <a:p>
            <a:pPr lvl="1" eaLnBrk="1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dirty="0"/>
              <a:t>Conferences: SIGIR, WWW, CIKM, etc.</a:t>
            </a:r>
          </a:p>
          <a:p>
            <a:pPr lvl="1" eaLnBrk="1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dirty="0"/>
              <a:t>Journals: WWW: Internet and Web Information Systems, </a:t>
            </a:r>
          </a:p>
          <a:p>
            <a:pPr eaLnBrk="1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u="sng" dirty="0"/>
              <a:t>Statistics</a:t>
            </a:r>
          </a:p>
          <a:p>
            <a:pPr lvl="1" eaLnBrk="1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dirty="0"/>
              <a:t>Conferences: Joint Stat. Meeting, etc.</a:t>
            </a:r>
          </a:p>
          <a:p>
            <a:pPr lvl="1" eaLnBrk="1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dirty="0"/>
              <a:t>Journals: Annals of statistics, etc.</a:t>
            </a:r>
          </a:p>
          <a:p>
            <a:pPr eaLnBrk="1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u="sng" dirty="0"/>
              <a:t>Visualization</a:t>
            </a:r>
          </a:p>
          <a:p>
            <a:pPr lvl="1" eaLnBrk="1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dirty="0"/>
              <a:t>Conference proceedings: CHI, ACM-</a:t>
            </a:r>
            <a:r>
              <a:rPr lang="en-US" altLang="en-US" sz="1800" dirty="0" err="1"/>
              <a:t>SIGGraph</a:t>
            </a:r>
            <a:r>
              <a:rPr lang="en-US" altLang="en-US" sz="1800" dirty="0"/>
              <a:t>, etc.</a:t>
            </a:r>
          </a:p>
          <a:p>
            <a:pPr lvl="1" eaLnBrk="1" hangingPunct="1"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dirty="0"/>
              <a:t>Journals: IEEE Trans. visualization and computer graphics, etc.</a:t>
            </a:r>
          </a:p>
        </p:txBody>
      </p:sp>
    </p:spTree>
    <p:extLst>
      <p:ext uri="{BB962C8B-B14F-4D97-AF65-F5344CB8AC3E}">
        <p14:creationId xmlns:p14="http://schemas.microsoft.com/office/powerpoint/2010/main" val="26203138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28600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1.  Introduction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388" y="1294960"/>
            <a:ext cx="10865223" cy="5257800"/>
          </a:xfrm>
        </p:spPr>
        <p:txBody>
          <a:bodyPr/>
          <a:lstStyle/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Why Data Mining?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What Is Data Mining?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A Multi-Dimensional View of Data Mining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What Kinds of Data Can Be Mined?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What Kinds of Patterns Can Be Mined?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What Kinds of Technologies Are Used?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What Kinds of Applications Are Targeted? 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Major Issues in Data Mining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A Brief History of Data Mining and Data Mining Society</a:t>
            </a:r>
          </a:p>
          <a:p>
            <a:pPr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2400" dirty="0"/>
              <a:t>Summary</a:t>
            </a:r>
          </a:p>
        </p:txBody>
      </p:sp>
      <p:sp>
        <p:nvSpPr>
          <p:cNvPr id="16389" name="AutoShape 4"/>
          <p:cNvSpPr>
            <a:spLocks noChangeArrowheads="1"/>
          </p:cNvSpPr>
          <p:nvPr/>
        </p:nvSpPr>
        <p:spPr bwMode="auto">
          <a:xfrm rot="9724325">
            <a:off x="2825793" y="5919040"/>
            <a:ext cx="480709" cy="376632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6969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404814"/>
            <a:ext cx="7010400" cy="528637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dirty="0"/>
              <a:t>Summary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9259" y="1196788"/>
            <a:ext cx="10995212" cy="5455024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mining: Discovering interesting patterns and knowledge from massive amount of data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A natural evolution of science and information technology, in great demand, with wide applications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A KDD process includes data cleaning, data integration, data selection, transformation, data mining, pattern evaluation, and knowledge presentation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Mining can be performed in a variety of data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functionalities: characterization, discrimination, association, classification, clustering, trend and outlier analysis, etc.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technologies and applications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Major issues in data mining</a:t>
            </a:r>
          </a:p>
        </p:txBody>
      </p:sp>
    </p:spTree>
    <p:extLst>
      <p:ext uri="{BB962C8B-B14F-4D97-AF65-F5344CB8AC3E}">
        <p14:creationId xmlns:p14="http://schemas.microsoft.com/office/powerpoint/2010/main" val="18174381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885825" y="381000"/>
            <a:ext cx="10086975" cy="554038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Recommended Reference Books</a:t>
            </a:r>
            <a:endParaRPr lang="en-US" altLang="en-US" sz="6000" dirty="0"/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162049"/>
            <a:ext cx="11010900" cy="5553075"/>
          </a:xfrm>
        </p:spPr>
        <p:txBody>
          <a:bodyPr/>
          <a:lstStyle/>
          <a:p>
            <a:r>
              <a:rPr lang="en-US" sz="2000" dirty="0" err="1">
                <a:solidFill>
                  <a:srgbClr val="FF0000"/>
                </a:solidFill>
              </a:rPr>
              <a:t>Charu</a:t>
            </a:r>
            <a:r>
              <a:rPr lang="en-US" sz="2000" dirty="0">
                <a:solidFill>
                  <a:srgbClr val="FF0000"/>
                </a:solidFill>
              </a:rPr>
              <a:t> C. Aggarwal,  Data Mining: The Textbook, Springer, 2015 </a:t>
            </a:r>
          </a:p>
          <a:p>
            <a:r>
              <a:rPr lang="en-US" altLang="en-US" sz="2000" dirty="0"/>
              <a:t>E. </a:t>
            </a:r>
            <a:r>
              <a:rPr lang="en-US" altLang="en-US" sz="2000" dirty="0" err="1"/>
              <a:t>Alpaydin</a:t>
            </a:r>
            <a:r>
              <a:rPr lang="en-US" altLang="en-US" sz="2000" dirty="0"/>
              <a:t>. Introduction to Machine Learning, 2nd ed., MIT Press, 2011 </a:t>
            </a:r>
          </a:p>
          <a:p>
            <a:pPr eaLnBrk="1" hangingPunct="1"/>
            <a:r>
              <a:rPr lang="en-US" altLang="en-US" sz="2000" dirty="0"/>
              <a:t>R. O. </a:t>
            </a:r>
            <a:r>
              <a:rPr lang="en-US" altLang="en-US" sz="2000" dirty="0" err="1"/>
              <a:t>Duda</a:t>
            </a:r>
            <a:r>
              <a:rPr lang="en-US" altLang="en-US" sz="2000" dirty="0"/>
              <a:t>, P. E. Hart, and D. G. Stork, Pattern Classification, 2ed., Wiley-</a:t>
            </a:r>
            <a:r>
              <a:rPr lang="en-US" altLang="en-US" sz="2000" dirty="0" err="1"/>
              <a:t>Interscience</a:t>
            </a:r>
            <a:r>
              <a:rPr lang="en-US" altLang="en-US" sz="2000" dirty="0"/>
              <a:t>, 2000</a:t>
            </a:r>
          </a:p>
          <a:p>
            <a:pPr eaLnBrk="1" hangingPunct="1"/>
            <a:r>
              <a:rPr lang="en-US" altLang="en-US" sz="2000" dirty="0"/>
              <a:t>U. Fayyad, G. Grinstein, and A. </a:t>
            </a:r>
            <a:r>
              <a:rPr lang="en-US" altLang="en-US" sz="2000" dirty="0" err="1"/>
              <a:t>Wierse</a:t>
            </a:r>
            <a:r>
              <a:rPr lang="en-US" altLang="en-US" sz="2000" dirty="0"/>
              <a:t>, Information Visualization in Data Mining and Knowledge Discovery, Morgan Kaufmann, 2001</a:t>
            </a:r>
          </a:p>
          <a:p>
            <a:pPr eaLnBrk="1" hangingPunct="1"/>
            <a:r>
              <a:rPr lang="en-US" altLang="en-US" sz="2000" dirty="0">
                <a:solidFill>
                  <a:srgbClr val="FF0000"/>
                </a:solidFill>
              </a:rPr>
              <a:t>J. Han, M. </a:t>
            </a:r>
            <a:r>
              <a:rPr lang="en-US" altLang="en-US" sz="2000" dirty="0" err="1">
                <a:solidFill>
                  <a:srgbClr val="FF0000"/>
                </a:solidFill>
              </a:rPr>
              <a:t>Kamber</a:t>
            </a:r>
            <a:r>
              <a:rPr lang="en-US" altLang="en-US" sz="2000" dirty="0">
                <a:solidFill>
                  <a:srgbClr val="FF0000"/>
                </a:solidFill>
              </a:rPr>
              <a:t>, and J. Pei, Data Mining: Concepts and Techniques. Morgan Kaufmann, 3</a:t>
            </a:r>
            <a:r>
              <a:rPr lang="en-US" altLang="en-US" sz="2000" baseline="30000" dirty="0">
                <a:solidFill>
                  <a:srgbClr val="FF0000"/>
                </a:solidFill>
              </a:rPr>
              <a:t>rd</a:t>
            </a:r>
            <a:r>
              <a:rPr lang="en-US" altLang="en-US" sz="2000" dirty="0">
                <a:solidFill>
                  <a:srgbClr val="FF0000"/>
                </a:solidFill>
              </a:rPr>
              <a:t> ed. , 2011</a:t>
            </a:r>
          </a:p>
          <a:p>
            <a:pPr eaLnBrk="1" hangingPunct="1"/>
            <a:r>
              <a:rPr lang="en-US" altLang="en-US" sz="2000" dirty="0"/>
              <a:t>T. Hastie, R. </a:t>
            </a:r>
            <a:r>
              <a:rPr lang="en-US" altLang="en-US" sz="2000" dirty="0" err="1"/>
              <a:t>Tibshirani</a:t>
            </a:r>
            <a:r>
              <a:rPr lang="en-US" altLang="en-US" sz="2000" dirty="0"/>
              <a:t>, and J. Friedman, The Elements of Statistical Learning: Data Mining, Inference, and Prediction, 2</a:t>
            </a:r>
            <a:r>
              <a:rPr lang="en-US" altLang="en-US" sz="2000" baseline="30000" dirty="0"/>
              <a:t>nd</a:t>
            </a:r>
            <a:r>
              <a:rPr lang="en-US" altLang="en-US" sz="2000" dirty="0"/>
              <a:t> ed., Springer, 2009</a:t>
            </a:r>
          </a:p>
          <a:p>
            <a:pPr eaLnBrk="1" hangingPunct="1"/>
            <a:r>
              <a:rPr lang="en-US" altLang="en-US" sz="2000" dirty="0"/>
              <a:t>T. M. Mitchell, Machine Learning, McGraw Hill, 1997</a:t>
            </a:r>
          </a:p>
          <a:p>
            <a:pPr eaLnBrk="1" hangingPunct="1"/>
            <a:r>
              <a:rPr lang="en-US" altLang="en-US" sz="2000" dirty="0">
                <a:solidFill>
                  <a:srgbClr val="FF0000"/>
                </a:solidFill>
              </a:rPr>
              <a:t>P.-N. Tan, M. Steinbach and V. Kumar, Introduction to Data Mining, Wiley, 2005 (2</a:t>
            </a:r>
            <a:r>
              <a:rPr lang="en-US" altLang="en-US" sz="2000" baseline="30000" dirty="0">
                <a:solidFill>
                  <a:srgbClr val="FF0000"/>
                </a:solidFill>
              </a:rPr>
              <a:t>nd</a:t>
            </a:r>
            <a:r>
              <a:rPr lang="en-US" altLang="en-US" sz="2000" dirty="0">
                <a:solidFill>
                  <a:srgbClr val="FF0000"/>
                </a:solidFill>
              </a:rPr>
              <a:t> ed. 2016)</a:t>
            </a:r>
          </a:p>
          <a:p>
            <a:pPr eaLnBrk="1" hangingPunct="1"/>
            <a:r>
              <a:rPr lang="en-US" altLang="en-US" sz="2000" dirty="0"/>
              <a:t>I. H. Witten and E. Frank,  Data Mining: Practical Machine Learning Tools and Techniques with Java Implementations, Morgan Kaufmann, 2</a:t>
            </a:r>
            <a:r>
              <a:rPr lang="en-US" altLang="en-US" sz="2000" baseline="30000" dirty="0"/>
              <a:t>nd</a:t>
            </a:r>
            <a:r>
              <a:rPr lang="en-US" altLang="en-US" sz="2000" dirty="0"/>
              <a:t> ed. 2005</a:t>
            </a:r>
            <a:endParaRPr lang="en-US" sz="2000" dirty="0">
              <a:hlinkClick r:id="rId3" tooltip="Data Mining and Analysis: Fundamental Concepts and Algorithms"/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Mohammed J. </a:t>
            </a:r>
            <a:r>
              <a:rPr lang="en-US" sz="2000" dirty="0" err="1">
                <a:solidFill>
                  <a:srgbClr val="FF0000"/>
                </a:solidFill>
              </a:rPr>
              <a:t>Zaki</a:t>
            </a:r>
            <a:r>
              <a:rPr lang="en-US" sz="2000" dirty="0">
                <a:solidFill>
                  <a:srgbClr val="FF0000"/>
                </a:solidFill>
              </a:rPr>
              <a:t> and Wagner </a:t>
            </a:r>
            <a:r>
              <a:rPr lang="en-US" sz="2000" dirty="0" err="1">
                <a:solidFill>
                  <a:srgbClr val="FF0000"/>
                </a:solidFill>
              </a:rPr>
              <a:t>Meira</a:t>
            </a:r>
            <a:r>
              <a:rPr lang="en-US" sz="2000" dirty="0">
                <a:solidFill>
                  <a:srgbClr val="FF0000"/>
                </a:solidFill>
              </a:rPr>
              <a:t> Jr., Data Mining and Analysis: Fundamental Concepts and Algorithms 2014</a:t>
            </a:r>
          </a:p>
          <a:p>
            <a:endParaRPr lang="en-US" sz="1800" dirty="0"/>
          </a:p>
          <a:p>
            <a:pPr eaLnBrk="1" hangingPunct="1"/>
            <a:endParaRPr lang="en-US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6573215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Date Placeholder 3"/>
          <p:cNvSpPr>
            <a:spLocks noGrp="1"/>
          </p:cNvSpPr>
          <p:nvPr>
            <p:ph type="dt" sz="quarter" idx="4294967295"/>
          </p:nvPr>
        </p:nvSpPr>
        <p:spPr bwMode="auto">
          <a:xfrm>
            <a:off x="1524000" y="64008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AD5401C-F8E7-41AE-8BD7-E9E78C7C1464}" type="datetime4">
              <a:rPr lang="en-US" altLang="en-US" sz="1200"/>
              <a:pPr eaLnBrk="1" hangingPunct="1"/>
              <a:t>September 14, 2026</a:t>
            </a:fld>
            <a:endParaRPr lang="en-US" altLang="en-US" sz="1200"/>
          </a:p>
        </p:txBody>
      </p:sp>
      <p:sp>
        <p:nvSpPr>
          <p:cNvPr id="45059" name="Footer Placeholder 4"/>
          <p:cNvSpPr>
            <a:spLocks noGrp="1"/>
          </p:cNvSpPr>
          <p:nvPr>
            <p:ph type="ftr" sz="quarter" idx="4294967295"/>
          </p:nvPr>
        </p:nvSpPr>
        <p:spPr bwMode="auto">
          <a:xfrm>
            <a:off x="4800600" y="6477000"/>
            <a:ext cx="28956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200"/>
              <a:t>Data Mining: Concepts and Techniques</a:t>
            </a:r>
          </a:p>
        </p:txBody>
      </p:sp>
      <p:sp>
        <p:nvSpPr>
          <p:cNvPr id="4506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0134600" y="6400800"/>
            <a:ext cx="5334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0CCB030-D46E-4C8D-82AF-E8B8F62464EC}" type="slidenum">
              <a:rPr lang="en-US" altLang="en-US" sz="1400"/>
              <a:pPr eaLnBrk="1" hangingPunct="1"/>
              <a:t>33</a:t>
            </a:fld>
            <a:endParaRPr lang="en-US" altLang="en-US" sz="1400"/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45063" name="Picture 4" descr="IMG_256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84729"/>
            <a:ext cx="12192000" cy="914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826841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21936</TotalTime>
  <Words>2986</Words>
  <Application>Microsoft Office PowerPoint</Application>
  <PresentationFormat>宽屏</PresentationFormat>
  <Paragraphs>355</Paragraphs>
  <Slides>33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1" baseType="lpstr">
      <vt:lpstr>Abadi MT Condensed Extra Bold</vt:lpstr>
      <vt:lpstr>微软雅黑</vt:lpstr>
      <vt:lpstr>Arial</vt:lpstr>
      <vt:lpstr>Berlin Sans FB Demi</vt:lpstr>
      <vt:lpstr>Calibri</vt:lpstr>
      <vt:lpstr>Tahoma</vt:lpstr>
      <vt:lpstr>Wingdings</vt:lpstr>
      <vt:lpstr>Retrospect</vt:lpstr>
      <vt:lpstr>Intro. to Data Mining</vt:lpstr>
      <vt:lpstr>教师简介</vt:lpstr>
      <vt:lpstr>参考教材作者韩家炜老师</vt:lpstr>
      <vt:lpstr>Chapter 1.  Introduction</vt:lpstr>
      <vt:lpstr>What Is Data Mining?</vt:lpstr>
      <vt:lpstr>Data Mining: An Essential Step in Knowledge Discovery</vt:lpstr>
      <vt:lpstr>Diversity of Data Types for Data Mining (I)</vt:lpstr>
      <vt:lpstr>Diversity of Data Types for Data Mining (II)</vt:lpstr>
      <vt:lpstr>Mining Various Kinds of Knowledge</vt:lpstr>
      <vt:lpstr>Multidimensional Data Summarization</vt:lpstr>
      <vt:lpstr>Pattern Discovery: Mining Frequent Patterns, Associations, and Correlations </vt:lpstr>
      <vt:lpstr>Classification and Regression for Predictive Analysis</vt:lpstr>
      <vt:lpstr>Cluster Analysis</vt:lpstr>
      <vt:lpstr>Deep Learning</vt:lpstr>
      <vt:lpstr>Outlier Analysis</vt:lpstr>
      <vt:lpstr>Other Data Mining Functions: Time and Ordering: Sequential Pattern, Trend and Evolution Analysis</vt:lpstr>
      <vt:lpstr>Other Data Mining Functions: Structure and Network Analysis</vt:lpstr>
      <vt:lpstr>Evaluation of Knowledge</vt:lpstr>
      <vt:lpstr>Data Mining: Confluence of Multiple Disciplines </vt:lpstr>
      <vt:lpstr>Why Confluence of Multiple Disciplines?</vt:lpstr>
      <vt:lpstr>Data Mining and Applications</vt:lpstr>
      <vt:lpstr>Data Mining and Society</vt:lpstr>
      <vt:lpstr>Chapter 1.  Introduction</vt:lpstr>
      <vt:lpstr>Major Issues in Data Mining (1)</vt:lpstr>
      <vt:lpstr>Major Issues in Data Mining (2)</vt:lpstr>
      <vt:lpstr>Chapter 1.  Introduction</vt:lpstr>
      <vt:lpstr>A Brief History of Data Mining Society</vt:lpstr>
      <vt:lpstr>Conferences and Journals on Data Mining</vt:lpstr>
      <vt:lpstr>Where to Find References? DBLP, CiteSeer, Google</vt:lpstr>
      <vt:lpstr>Chapter 1.  Introduction</vt:lpstr>
      <vt:lpstr>Summary</vt:lpstr>
      <vt:lpstr>Recommended Reference Books</vt:lpstr>
      <vt:lpstr>PowerPoint 演示文稿</vt:lpstr>
    </vt:vector>
  </TitlesOfParts>
  <Company>UIUC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Latent Entity Structures</dc:title>
  <dc:creator>Jiawei Han</dc:creator>
  <cp:lastModifiedBy>欣 綦</cp:lastModifiedBy>
  <cp:revision>968</cp:revision>
  <cp:lastPrinted>2016-08-23T14:41:30Z</cp:lastPrinted>
  <dcterms:created xsi:type="dcterms:W3CDTF">2014-06-02T15:06:14Z</dcterms:created>
  <dcterms:modified xsi:type="dcterms:W3CDTF">2026-09-14T06:33:09Z</dcterms:modified>
</cp:coreProperties>
</file>